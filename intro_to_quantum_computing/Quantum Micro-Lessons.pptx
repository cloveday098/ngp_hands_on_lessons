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  <p:sldMasterId id="2147483677" r:id="rId2"/>
  </p:sldMasterIdLst>
  <p:notesMasterIdLst>
    <p:notesMasterId r:id="rId48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49"/>
      <p:bold r:id="rId50"/>
      <p:italic r:id="rId51"/>
      <p:boldItalic r:id="rId52"/>
    </p:embeddedFont>
    <p:embeddedFont>
      <p:font typeface="Century Gothic" panose="020B0502020202020204" pitchFamily="34" charset="0"/>
      <p:regular r:id="rId53"/>
      <p:bold r:id="rId54"/>
      <p:italic r:id="rId55"/>
      <p:boldItalic r:id="rId56"/>
    </p:embeddedFont>
    <p:embeddedFont>
      <p:font typeface="Roboto" panose="02000000000000000000" pitchFamily="2" charset="0"/>
      <p:regular r:id="rId57"/>
      <p:bold r:id="rId58"/>
      <p:italic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CE863F-BA72-41DA-B610-25A16192D563}">
  <a:tblStyle styleId="{0ACE863F-BA72-41DA-B610-25A16192D5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319" y="7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font" Target="fonts/font3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11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6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041da305a_0_183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3f041da305a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36c7d9bd8_0_0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g3f36c7d9bd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464040a73_0_22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3f464040a73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464040a73_0_27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f464040a73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464040a73_0_32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3f464040a73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464040a73_0_37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g3f464040a73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464040a73_0_42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3f464040a73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4c8234543_0_31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f4c8234543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464040a73_0_52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3f464040a73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4c8234543_0_42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3f4c8234543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4c8234543_0_1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3f4c823454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464040a73_0_57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3f464040a73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464040a73_0_62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3f464040a73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464040a73_0_67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g3f464040a73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464040a73_0_92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f464040a73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464040a73_0_430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g3f464040a73_0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464040a73_0_72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g3f464040a73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464040a73_0_77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g3f464040a73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464040a73_0_82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g3f464040a73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464040a73_0_97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3f464040a73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464040a73_0_102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3f464040a73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464040a73_0_354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could also discuss the idea of universal sets. These are sets composed of operations (works both for classical gates and quantum gates) that in combination can form all other states/gates. For example, NAND and NOR can generate equivalents to all other gates, so they form a universal set.</a:t>
            </a:r>
            <a:endParaRPr/>
          </a:p>
        </p:txBody>
      </p:sp>
      <p:sp>
        <p:nvSpPr>
          <p:cNvPr id="435" name="Google Shape;435;g3f464040a73_0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f464040a73_0_107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g3f464040a73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464040a73_0_112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g3f464040a73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464040a73_0_122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g3f464040a73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464040a73_0_17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g3f464040a73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f4c8234543_0_2685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g3f4c8234543_0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464040a73_0_292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g3f464040a73_0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f4c8234543_0_2657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probably recognize many if not all of these brands. They developed the current frontrunning computers in the quantum computing realm. Physical quantum computers do not have a well-defined architecture, and there are actually several experimental designs for quantum computers.</a:t>
            </a:r>
            <a:endParaRPr/>
          </a:p>
        </p:txBody>
      </p:sp>
      <p:sp>
        <p:nvSpPr>
          <p:cNvPr id="505" name="Google Shape;505;g3f4c8234543_0_26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4c8234543_0_2708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g3f4c8234543_0_27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f464040a73_0_297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g3f464040a73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f4c8234543_0_2713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g3f4c8234543_0_27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f4c8234543_0_2725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g3f4c8234543_0_27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f464040a73_0_302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g3f464040a73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f464040a73_0_307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g3f464040a73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f464040a73_0_317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g3f464040a73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f464040a73_0_312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 mK is 270 times colder than deep space</a:t>
            </a:r>
            <a:endParaRPr/>
          </a:p>
        </p:txBody>
      </p:sp>
      <p:sp>
        <p:nvSpPr>
          <p:cNvPr id="600" name="Google Shape;600;g3f464040a73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f4c8234543_0_2743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g3f4c8234543_0_2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f464040a73_0_322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g3f464040a73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f464040a73_0_327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g3f464040a73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f464040a73_0_366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g3f464040a73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f464040a73_0_377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g3f464040a73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f464040a73_0_337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g3f464040a73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f4c8234543_0_2833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g3f4c8234543_0_28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f041da305a_0_533:notes"/>
          <p:cNvSpPr txBox="1">
            <a:spLocks noGrp="1"/>
          </p:cNvSpPr>
          <p:nvPr>
            <p:ph type="body" idx="1"/>
          </p:nvPr>
        </p:nvSpPr>
        <p:spPr>
          <a:xfrm>
            <a:off x="686421" y="4400240"/>
            <a:ext cx="5485200" cy="3600900"/>
          </a:xfrm>
          <a:prstGeom prst="rect">
            <a:avLst/>
          </a:prstGeom>
        </p:spPr>
        <p:txBody>
          <a:bodyPr spcFirstLastPara="1" wrap="square" lIns="89600" tIns="89600" rIns="89600" bIns="89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g3f041da305a_0_5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01951" y="1143000"/>
            <a:ext cx="54540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_Title Slide" type="title">
  <p:cSld name="TITL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5741" y="805815"/>
            <a:ext cx="8500939" cy="317493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/>
          <p:nvPr/>
        </p:nvSpPr>
        <p:spPr>
          <a:xfrm>
            <a:off x="4572000" y="0"/>
            <a:ext cx="4571996" cy="5143497"/>
          </a:xfrm>
          <a:custGeom>
            <a:avLst/>
            <a:gdLst/>
            <a:ahLst/>
            <a:cxnLst/>
            <a:rect l="l" t="t" r="r" b="b"/>
            <a:pathLst>
              <a:path w="3388" h="3815" extrusionOk="0">
                <a:moveTo>
                  <a:pt x="3049" y="0"/>
                </a:moveTo>
                <a:lnTo>
                  <a:pt x="3049" y="2951"/>
                </a:lnTo>
                <a:lnTo>
                  <a:pt x="0" y="2951"/>
                </a:lnTo>
                <a:lnTo>
                  <a:pt x="0" y="3815"/>
                </a:lnTo>
                <a:lnTo>
                  <a:pt x="3388" y="3815"/>
                </a:lnTo>
                <a:lnTo>
                  <a:pt x="3388" y="2969"/>
                </a:lnTo>
                <a:lnTo>
                  <a:pt x="3388" y="2951"/>
                </a:lnTo>
                <a:lnTo>
                  <a:pt x="3388" y="0"/>
                </a:lnTo>
                <a:lnTo>
                  <a:pt x="3049" y="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50932" y="4044638"/>
            <a:ext cx="1233579" cy="3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0" y="240030"/>
            <a:ext cx="205800" cy="383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205740" y="240030"/>
            <a:ext cx="1059600" cy="383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200370" y="4007876"/>
            <a:ext cx="4038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ORNL is managed by UT-Battelle LLC for the US Department of Energy</a:t>
            </a:r>
            <a:endParaRPr sz="1100"/>
          </a:p>
        </p:txBody>
      </p:sp>
      <p:sp>
        <p:nvSpPr>
          <p:cNvPr id="64" name="Google Shape;64;p14"/>
          <p:cNvSpPr txBox="1">
            <a:spLocks noGrp="1"/>
          </p:cNvSpPr>
          <p:nvPr>
            <p:ph type="ctrTitle"/>
          </p:nvPr>
        </p:nvSpPr>
        <p:spPr>
          <a:xfrm>
            <a:off x="321552" y="1041722"/>
            <a:ext cx="65085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 b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1"/>
          </p:nvPr>
        </p:nvSpPr>
        <p:spPr>
          <a:xfrm>
            <a:off x="335611" y="2260091"/>
            <a:ext cx="4080300" cy="15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9847" y="342183"/>
            <a:ext cx="816102" cy="196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6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38711" y="1237522"/>
            <a:ext cx="8564700" cy="30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Char char="•"/>
              <a:defRPr/>
            </a:lvl1pPr>
            <a:lvl2pPr marL="914400" lvl="1" indent="-30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–"/>
              <a:defRPr/>
            </a:lvl2pPr>
            <a:lvl3pPr marL="1371600" lvl="2" indent="-30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22325" y="205740"/>
            <a:ext cx="8572500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36041" y="1240301"/>
            <a:ext cx="8572500" cy="30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4925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•"/>
              <a:defRPr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break">
  <p:cSld name="Section brea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/>
          <p:cNvPicPr preferRelativeResize="0"/>
          <p:nvPr/>
        </p:nvPicPr>
        <p:blipFill rotWithShape="1">
          <a:blip r:embed="rId2">
            <a:alphaModFix/>
          </a:blip>
          <a:srcRect r="-402"/>
          <a:stretch/>
        </p:blipFill>
        <p:spPr>
          <a:xfrm>
            <a:off x="4571998" y="809244"/>
            <a:ext cx="4151268" cy="317150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/>
          <p:nvPr/>
        </p:nvSpPr>
        <p:spPr>
          <a:xfrm>
            <a:off x="205740" y="809244"/>
            <a:ext cx="4366200" cy="3171600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22326" y="1014359"/>
            <a:ext cx="40602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09163" y="2168912"/>
            <a:ext cx="4073400" cy="16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•"/>
              <a:defRPr sz="15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0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–"/>
              <a:defRPr sz="14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–"/>
              <a:defRPr sz="1100"/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»"/>
              <a:defRPr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0" y="240030"/>
            <a:ext cx="205800" cy="383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205740" y="240030"/>
            <a:ext cx="1059600" cy="383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847" y="342183"/>
            <a:ext cx="816102" cy="19639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/>
          <p:nvPr/>
        </p:nvSpPr>
        <p:spPr>
          <a:xfrm>
            <a:off x="4572000" y="0"/>
            <a:ext cx="4571996" cy="5143497"/>
          </a:xfrm>
          <a:custGeom>
            <a:avLst/>
            <a:gdLst/>
            <a:ahLst/>
            <a:cxnLst/>
            <a:rect l="l" t="t" r="r" b="b"/>
            <a:pathLst>
              <a:path w="3388" h="3815" extrusionOk="0">
                <a:moveTo>
                  <a:pt x="3049" y="0"/>
                </a:moveTo>
                <a:lnTo>
                  <a:pt x="3049" y="2951"/>
                </a:lnTo>
                <a:lnTo>
                  <a:pt x="0" y="2951"/>
                </a:lnTo>
                <a:lnTo>
                  <a:pt x="0" y="3815"/>
                </a:lnTo>
                <a:lnTo>
                  <a:pt x="3388" y="3815"/>
                </a:lnTo>
                <a:lnTo>
                  <a:pt x="3388" y="2969"/>
                </a:lnTo>
                <a:lnTo>
                  <a:pt x="3388" y="2951"/>
                </a:lnTo>
                <a:lnTo>
                  <a:pt x="3388" y="0"/>
                </a:lnTo>
                <a:lnTo>
                  <a:pt x="3049" y="0"/>
                </a:lnTo>
                <a:close/>
              </a:path>
            </a:pathLst>
          </a:custGeom>
          <a:solidFill>
            <a:srgbClr val="CBCBCB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628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348851" y="1083565"/>
            <a:ext cx="4131000" cy="3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•"/>
              <a:defRPr sz="15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0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–"/>
              <a:defRPr sz="14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Char char="•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  <a:defRPr sz="11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•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2"/>
          </p:nvPr>
        </p:nvSpPr>
        <p:spPr>
          <a:xfrm>
            <a:off x="4681120" y="1083565"/>
            <a:ext cx="4128600" cy="3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•"/>
              <a:defRPr sz="15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0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–"/>
              <a:defRPr sz="14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Char char="•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Char char="•"/>
              <a:defRPr sz="11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89" name="Google Shape;89;p18"/>
          <p:cNvSpPr txBox="1"/>
          <p:nvPr/>
        </p:nvSpPr>
        <p:spPr>
          <a:xfrm>
            <a:off x="6007711" y="4937760"/>
            <a:ext cx="2895600" cy="1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10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 type="twoTxTwoObj">
  <p:cSld name="TWO_OBJECTS_WITH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628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348851" y="1083564"/>
            <a:ext cx="4131000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600"/>
              <a:buNone/>
              <a:defRPr sz="1800" b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body" idx="2"/>
          </p:nvPr>
        </p:nvSpPr>
        <p:spPr>
          <a:xfrm>
            <a:off x="348851" y="1706600"/>
            <a:ext cx="4131000" cy="25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•"/>
              <a:defRPr sz="15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0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–"/>
              <a:defRPr sz="14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Char char="•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  <a:defRPr sz="11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•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3"/>
          </p:nvPr>
        </p:nvSpPr>
        <p:spPr>
          <a:xfrm>
            <a:off x="4681120" y="1083564"/>
            <a:ext cx="4128600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600"/>
              <a:buNone/>
              <a:defRPr sz="1800" b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body" idx="4"/>
          </p:nvPr>
        </p:nvSpPr>
        <p:spPr>
          <a:xfrm>
            <a:off x="4681120" y="1706600"/>
            <a:ext cx="4128600" cy="25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•"/>
              <a:defRPr sz="15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0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–"/>
              <a:defRPr sz="1400"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Char char="•"/>
              <a:defRPr sz="1200"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Char char="•"/>
              <a:defRPr sz="1100"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96" name="Google Shape;96;p19"/>
          <p:cNvSpPr txBox="1"/>
          <p:nvPr/>
        </p:nvSpPr>
        <p:spPr>
          <a:xfrm>
            <a:off x="6007711" y="4937760"/>
            <a:ext cx="2895600" cy="1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10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only">
  <p:cSld name="7_Title 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689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Sidebar and logo">
  <p:cSld name="8_Sidebar and logo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ntent boxes with reverse headers">
  <p:cSld name="2 content boxes with reverse header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628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body" idx="1"/>
          </p:nvPr>
        </p:nvSpPr>
        <p:spPr>
          <a:xfrm>
            <a:off x="402522" y="1040702"/>
            <a:ext cx="4114800" cy="615900"/>
          </a:xfrm>
          <a:prstGeom prst="rect">
            <a:avLst/>
          </a:prstGeom>
          <a:solidFill>
            <a:schemeClr val="dk2"/>
          </a:solidFill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400"/>
              <a:buNone/>
              <a:defRPr sz="15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body" idx="2"/>
          </p:nvPr>
        </p:nvSpPr>
        <p:spPr>
          <a:xfrm>
            <a:off x="402522" y="1656594"/>
            <a:ext cx="4114800" cy="2859900"/>
          </a:xfrm>
          <a:prstGeom prst="rect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•"/>
              <a:defRPr sz="1400"/>
            </a:lvl1pPr>
            <a:lvl2pPr marL="914400" lvl="1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Char char="–"/>
              <a:defRPr sz="1200"/>
            </a:lvl2pPr>
            <a:lvl3pPr marL="1371600" lvl="2" indent="-285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Char char="•"/>
              <a:defRPr sz="1100"/>
            </a:lvl3pPr>
            <a:lvl4pPr marL="1828800" lvl="3" indent="-279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entury Gothic"/>
              <a:buChar char="–"/>
              <a:defRPr sz="900"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body" idx="3"/>
          </p:nvPr>
        </p:nvSpPr>
        <p:spPr>
          <a:xfrm>
            <a:off x="4788511" y="1040702"/>
            <a:ext cx="4114800" cy="615900"/>
          </a:xfrm>
          <a:prstGeom prst="rect">
            <a:avLst/>
          </a:prstGeom>
          <a:solidFill>
            <a:schemeClr val="dk2"/>
          </a:solidFill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400"/>
              <a:buNone/>
              <a:defRPr sz="15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body" idx="4"/>
          </p:nvPr>
        </p:nvSpPr>
        <p:spPr>
          <a:xfrm>
            <a:off x="4788511" y="1659888"/>
            <a:ext cx="4114800" cy="2859900"/>
          </a:xfrm>
          <a:prstGeom prst="rect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•"/>
              <a:defRPr sz="1400"/>
            </a:lvl1pPr>
            <a:lvl2pPr marL="914400" lvl="1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Char char="–"/>
              <a:defRPr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85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Char char="•"/>
              <a:defRPr sz="1100"/>
            </a:lvl3pPr>
            <a:lvl4pPr marL="1828800" lvl="3" indent="-279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entury Gothic"/>
              <a:buChar char="–"/>
              <a:defRPr sz="900"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06" name="Google Shape;106;p22"/>
          <p:cNvSpPr txBox="1"/>
          <p:nvPr/>
        </p:nvSpPr>
        <p:spPr>
          <a:xfrm>
            <a:off x="6007711" y="4937760"/>
            <a:ext cx="2895600" cy="1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1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 content boxes with reverse headers">
  <p:cSld name="1_3 content boxes with reverse headers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628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body" idx="1"/>
          </p:nvPr>
        </p:nvSpPr>
        <p:spPr>
          <a:xfrm>
            <a:off x="402522" y="1040702"/>
            <a:ext cx="2707800" cy="615900"/>
          </a:xfrm>
          <a:prstGeom prst="rect">
            <a:avLst/>
          </a:prstGeom>
          <a:solidFill>
            <a:schemeClr val="dk2"/>
          </a:solidFill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400"/>
              <a:buNone/>
              <a:defRPr sz="15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body" idx="2"/>
          </p:nvPr>
        </p:nvSpPr>
        <p:spPr>
          <a:xfrm>
            <a:off x="402522" y="1656594"/>
            <a:ext cx="2707800" cy="2859900"/>
          </a:xfrm>
          <a:prstGeom prst="rect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•"/>
              <a:defRPr sz="1400"/>
            </a:lvl1pPr>
            <a:lvl2pPr marL="914400" lvl="1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Char char="–"/>
              <a:defRPr sz="1200"/>
            </a:lvl2pPr>
            <a:lvl3pPr marL="1371600" lvl="2" indent="-285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Char char="•"/>
              <a:defRPr sz="1100"/>
            </a:lvl3pPr>
            <a:lvl4pPr marL="1828800" lvl="3" indent="-279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entury Gothic"/>
              <a:buChar char="–"/>
              <a:defRPr sz="900"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11" name="Google Shape;111;p23"/>
          <p:cNvSpPr txBox="1">
            <a:spLocks noGrp="1"/>
          </p:cNvSpPr>
          <p:nvPr>
            <p:ph type="body" idx="3"/>
          </p:nvPr>
        </p:nvSpPr>
        <p:spPr>
          <a:xfrm>
            <a:off x="3295244" y="1040702"/>
            <a:ext cx="2706300" cy="615900"/>
          </a:xfrm>
          <a:prstGeom prst="rect">
            <a:avLst/>
          </a:prstGeom>
          <a:solidFill>
            <a:schemeClr val="dk2"/>
          </a:solidFill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400"/>
              <a:buNone/>
              <a:defRPr sz="15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body" idx="4"/>
          </p:nvPr>
        </p:nvSpPr>
        <p:spPr>
          <a:xfrm>
            <a:off x="3295244" y="1659888"/>
            <a:ext cx="2706300" cy="2859900"/>
          </a:xfrm>
          <a:prstGeom prst="rect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•"/>
              <a:defRPr sz="1400"/>
            </a:lvl1pPr>
            <a:lvl2pPr marL="914400" lvl="1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Char char="–"/>
              <a:defRPr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85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Char char="•"/>
              <a:defRPr sz="1100"/>
            </a:lvl3pPr>
            <a:lvl4pPr marL="1828800" lvl="3" indent="-279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entury Gothic"/>
              <a:buChar char="–"/>
              <a:defRPr sz="900"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body" idx="5"/>
          </p:nvPr>
        </p:nvSpPr>
        <p:spPr>
          <a:xfrm>
            <a:off x="6186422" y="1040702"/>
            <a:ext cx="2706300" cy="615900"/>
          </a:xfrm>
          <a:prstGeom prst="rect">
            <a:avLst/>
          </a:prstGeom>
          <a:solidFill>
            <a:schemeClr val="dk2"/>
          </a:solidFill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400"/>
              <a:buNone/>
              <a:defRPr sz="15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4" name="Google Shape;114;p23"/>
          <p:cNvSpPr txBox="1">
            <a:spLocks noGrp="1"/>
          </p:cNvSpPr>
          <p:nvPr>
            <p:ph type="body" idx="6"/>
          </p:nvPr>
        </p:nvSpPr>
        <p:spPr>
          <a:xfrm>
            <a:off x="6186422" y="1659888"/>
            <a:ext cx="2706300" cy="2859900"/>
          </a:xfrm>
          <a:prstGeom prst="rect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•"/>
              <a:defRPr sz="1400"/>
            </a:lvl1pPr>
            <a:lvl2pPr marL="914400" lvl="1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Char char="–"/>
              <a:defRPr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85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entury Gothic"/>
              <a:buChar char="•"/>
              <a:defRPr sz="1100"/>
            </a:lvl3pPr>
            <a:lvl4pPr marL="1828800" lvl="3" indent="-279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entury Gothic"/>
              <a:buChar char="–"/>
              <a:defRPr sz="900"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15" name="Google Shape;115;p23"/>
          <p:cNvSpPr txBox="1"/>
          <p:nvPr/>
        </p:nvSpPr>
        <p:spPr>
          <a:xfrm>
            <a:off x="6007711" y="4937760"/>
            <a:ext cx="2895600" cy="1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10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k green picture layout">
  <p:cSld name="Dk green picture layou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>
            <a:spLocks noGrp="1"/>
          </p:cNvSpPr>
          <p:nvPr>
            <p:ph type="pic" idx="2"/>
          </p:nvPr>
        </p:nvSpPr>
        <p:spPr>
          <a:xfrm>
            <a:off x="4571728" y="812816"/>
            <a:ext cx="4115100" cy="31644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4"/>
          <p:cNvSpPr/>
          <p:nvPr/>
        </p:nvSpPr>
        <p:spPr>
          <a:xfrm>
            <a:off x="205740" y="809244"/>
            <a:ext cx="4366200" cy="3166200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4"/>
          <p:cNvSpPr txBox="1">
            <a:spLocks noGrp="1"/>
          </p:cNvSpPr>
          <p:nvPr>
            <p:ph type="title"/>
          </p:nvPr>
        </p:nvSpPr>
        <p:spPr>
          <a:xfrm>
            <a:off x="291059" y="956841"/>
            <a:ext cx="4153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 b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4"/>
          <p:cNvSpPr/>
          <p:nvPr/>
        </p:nvSpPr>
        <p:spPr>
          <a:xfrm>
            <a:off x="0" y="240030"/>
            <a:ext cx="205800" cy="383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4"/>
          <p:cNvSpPr/>
          <p:nvPr/>
        </p:nvSpPr>
        <p:spPr>
          <a:xfrm>
            <a:off x="205740" y="240030"/>
            <a:ext cx="1059600" cy="383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4"/>
          <p:cNvSpPr/>
          <p:nvPr/>
        </p:nvSpPr>
        <p:spPr>
          <a:xfrm flipH="1">
            <a:off x="-3293" y="4969599"/>
            <a:ext cx="2103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3" name="Google Shape;123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9847" y="342183"/>
            <a:ext cx="816102" cy="1963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24"/>
          <p:cNvCxnSpPr/>
          <p:nvPr/>
        </p:nvCxnSpPr>
        <p:spPr>
          <a:xfrm>
            <a:off x="6003131" y="616744"/>
            <a:ext cx="0" cy="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125" name="Google Shape;125;p24"/>
          <p:cNvCxnSpPr/>
          <p:nvPr/>
        </p:nvCxnSpPr>
        <p:spPr>
          <a:xfrm>
            <a:off x="6003131" y="616744"/>
            <a:ext cx="0" cy="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126" name="Google Shape;126;p24"/>
          <p:cNvSpPr/>
          <p:nvPr/>
        </p:nvSpPr>
        <p:spPr>
          <a:xfrm>
            <a:off x="4572000" y="0"/>
            <a:ext cx="4571996" cy="5143497"/>
          </a:xfrm>
          <a:custGeom>
            <a:avLst/>
            <a:gdLst/>
            <a:ahLst/>
            <a:cxnLst/>
            <a:rect l="l" t="t" r="r" b="b"/>
            <a:pathLst>
              <a:path w="3388" h="3815" extrusionOk="0">
                <a:moveTo>
                  <a:pt x="3049" y="0"/>
                </a:moveTo>
                <a:lnTo>
                  <a:pt x="3049" y="2951"/>
                </a:lnTo>
                <a:lnTo>
                  <a:pt x="0" y="2951"/>
                </a:lnTo>
                <a:lnTo>
                  <a:pt x="0" y="3815"/>
                </a:lnTo>
                <a:lnTo>
                  <a:pt x="3388" y="3815"/>
                </a:lnTo>
                <a:lnTo>
                  <a:pt x="3388" y="2969"/>
                </a:lnTo>
                <a:lnTo>
                  <a:pt x="3388" y="2951"/>
                </a:lnTo>
                <a:lnTo>
                  <a:pt x="3388" y="0"/>
                </a:lnTo>
                <a:lnTo>
                  <a:pt x="304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7" name="Google Shape;127;p24"/>
          <p:cNvSpPr txBox="1">
            <a:spLocks noGrp="1"/>
          </p:cNvSpPr>
          <p:nvPr>
            <p:ph type="body" idx="1"/>
          </p:nvPr>
        </p:nvSpPr>
        <p:spPr>
          <a:xfrm>
            <a:off x="291059" y="1839988"/>
            <a:ext cx="4134600" cy="20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•"/>
              <a:defRPr sz="15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0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–"/>
              <a:def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–"/>
              <a:defRPr sz="1100"/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»"/>
              <a:defRPr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k green picture layout 2">
  <p:cSld name="Dk green picture layout 2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>
            <a:spLocks noGrp="1"/>
          </p:cNvSpPr>
          <p:nvPr>
            <p:ph type="pic" idx="2"/>
          </p:nvPr>
        </p:nvSpPr>
        <p:spPr>
          <a:xfrm>
            <a:off x="4571727" y="809244"/>
            <a:ext cx="4115400" cy="31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5"/>
          <p:cNvSpPr/>
          <p:nvPr/>
        </p:nvSpPr>
        <p:spPr>
          <a:xfrm>
            <a:off x="205740" y="809244"/>
            <a:ext cx="4366200" cy="4334400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5"/>
          <p:cNvSpPr txBox="1">
            <a:spLocks noGrp="1"/>
          </p:cNvSpPr>
          <p:nvPr>
            <p:ph type="title"/>
          </p:nvPr>
        </p:nvSpPr>
        <p:spPr>
          <a:xfrm>
            <a:off x="291059" y="956841"/>
            <a:ext cx="4153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 b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body" idx="1"/>
          </p:nvPr>
        </p:nvSpPr>
        <p:spPr>
          <a:xfrm>
            <a:off x="291059" y="1839987"/>
            <a:ext cx="4134600" cy="3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•"/>
              <a:defRPr sz="15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0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–"/>
              <a:def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–"/>
              <a:defRPr sz="1100"/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»"/>
              <a:defRPr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33" name="Google Shape;133;p25"/>
          <p:cNvSpPr/>
          <p:nvPr/>
        </p:nvSpPr>
        <p:spPr>
          <a:xfrm>
            <a:off x="0" y="240030"/>
            <a:ext cx="205800" cy="383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/>
          <p:nvPr/>
        </p:nvSpPr>
        <p:spPr>
          <a:xfrm>
            <a:off x="205740" y="240030"/>
            <a:ext cx="1059600" cy="383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5"/>
          <p:cNvSpPr/>
          <p:nvPr/>
        </p:nvSpPr>
        <p:spPr>
          <a:xfrm flipH="1">
            <a:off x="-3293" y="4969599"/>
            <a:ext cx="2103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6" name="Google Shape;136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9847" y="342183"/>
            <a:ext cx="816102" cy="19639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/>
          <p:nvPr/>
        </p:nvSpPr>
        <p:spPr>
          <a:xfrm>
            <a:off x="4572000" y="0"/>
            <a:ext cx="4571996" cy="5143497"/>
          </a:xfrm>
          <a:custGeom>
            <a:avLst/>
            <a:gdLst/>
            <a:ahLst/>
            <a:cxnLst/>
            <a:rect l="l" t="t" r="r" b="b"/>
            <a:pathLst>
              <a:path w="3388" h="3815" extrusionOk="0">
                <a:moveTo>
                  <a:pt x="3049" y="0"/>
                </a:moveTo>
                <a:lnTo>
                  <a:pt x="3049" y="2951"/>
                </a:lnTo>
                <a:lnTo>
                  <a:pt x="0" y="2951"/>
                </a:lnTo>
                <a:lnTo>
                  <a:pt x="0" y="3815"/>
                </a:lnTo>
                <a:lnTo>
                  <a:pt x="3388" y="3815"/>
                </a:lnTo>
                <a:lnTo>
                  <a:pt x="3388" y="2969"/>
                </a:lnTo>
                <a:lnTo>
                  <a:pt x="3388" y="2951"/>
                </a:lnTo>
                <a:lnTo>
                  <a:pt x="3388" y="0"/>
                </a:lnTo>
                <a:lnTo>
                  <a:pt x="304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Dk green picture layout wide">
  <p:cSld name="2_Dk green picture layout wide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>
            <a:spLocks noGrp="1"/>
          </p:cNvSpPr>
          <p:nvPr>
            <p:ph type="pic" idx="2"/>
          </p:nvPr>
        </p:nvSpPr>
        <p:spPr>
          <a:xfrm>
            <a:off x="3090446" y="809242"/>
            <a:ext cx="5598000" cy="31695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6"/>
          <p:cNvSpPr/>
          <p:nvPr/>
        </p:nvSpPr>
        <p:spPr>
          <a:xfrm>
            <a:off x="205741" y="809243"/>
            <a:ext cx="2884800" cy="4334400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6"/>
          <p:cNvSpPr txBox="1">
            <a:spLocks noGrp="1"/>
          </p:cNvSpPr>
          <p:nvPr>
            <p:ph type="title"/>
          </p:nvPr>
        </p:nvSpPr>
        <p:spPr>
          <a:xfrm>
            <a:off x="291059" y="956841"/>
            <a:ext cx="2682300" cy="7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 b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291059" y="2100263"/>
            <a:ext cx="2656500" cy="28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•"/>
              <a:defRPr sz="15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0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–"/>
              <a:def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–"/>
              <a:defRPr sz="1100"/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»"/>
              <a:defRPr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43" name="Google Shape;143;p26"/>
          <p:cNvSpPr/>
          <p:nvPr/>
        </p:nvSpPr>
        <p:spPr>
          <a:xfrm>
            <a:off x="0" y="240030"/>
            <a:ext cx="205800" cy="383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6"/>
          <p:cNvSpPr/>
          <p:nvPr/>
        </p:nvSpPr>
        <p:spPr>
          <a:xfrm>
            <a:off x="205740" y="240030"/>
            <a:ext cx="1059600" cy="383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6"/>
          <p:cNvSpPr/>
          <p:nvPr/>
        </p:nvSpPr>
        <p:spPr>
          <a:xfrm flipH="1">
            <a:off x="-3293" y="4969599"/>
            <a:ext cx="2103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6" name="Google Shape;146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9847" y="342183"/>
            <a:ext cx="816102" cy="19639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6"/>
          <p:cNvSpPr/>
          <p:nvPr/>
        </p:nvSpPr>
        <p:spPr>
          <a:xfrm>
            <a:off x="3090446" y="1"/>
            <a:ext cx="6053553" cy="5143497"/>
          </a:xfrm>
          <a:custGeom>
            <a:avLst/>
            <a:gdLst/>
            <a:ahLst/>
            <a:cxnLst/>
            <a:rect l="l" t="t" r="r" b="b"/>
            <a:pathLst>
              <a:path w="4490" h="3815" extrusionOk="0">
                <a:moveTo>
                  <a:pt x="4151" y="0"/>
                </a:moveTo>
                <a:lnTo>
                  <a:pt x="4151" y="2951"/>
                </a:lnTo>
                <a:lnTo>
                  <a:pt x="0" y="2951"/>
                </a:lnTo>
                <a:lnTo>
                  <a:pt x="0" y="3815"/>
                </a:lnTo>
                <a:lnTo>
                  <a:pt x="4490" y="3815"/>
                </a:lnTo>
                <a:lnTo>
                  <a:pt x="4490" y="2969"/>
                </a:lnTo>
                <a:lnTo>
                  <a:pt x="4490" y="2951"/>
                </a:lnTo>
                <a:lnTo>
                  <a:pt x="4490" y="0"/>
                </a:lnTo>
                <a:lnTo>
                  <a:pt x="4151" y="0"/>
                </a:lnTo>
                <a:lnTo>
                  <a:pt x="4151" y="0"/>
                </a:lnTo>
                <a:close/>
              </a:path>
            </a:pathLst>
          </a:custGeom>
          <a:solidFill>
            <a:srgbClr val="4C8861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ull picture layout ">
  <p:cSld name="Full picture layout 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>
            <a:spLocks noGrp="1"/>
          </p:cNvSpPr>
          <p:nvPr>
            <p:ph type="pic" idx="2"/>
          </p:nvPr>
        </p:nvSpPr>
        <p:spPr>
          <a:xfrm>
            <a:off x="205740" y="1786"/>
            <a:ext cx="8484600" cy="47565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322327" y="205740"/>
            <a:ext cx="82503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 b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7"/>
          <p:cNvSpPr txBox="1"/>
          <p:nvPr/>
        </p:nvSpPr>
        <p:spPr>
          <a:xfrm>
            <a:off x="6007712" y="4857750"/>
            <a:ext cx="2895600" cy="1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100"/>
          </a:p>
        </p:txBody>
      </p:sp>
      <p:sp>
        <p:nvSpPr>
          <p:cNvPr id="152" name="Google Shape;152;p27"/>
          <p:cNvSpPr/>
          <p:nvPr/>
        </p:nvSpPr>
        <p:spPr>
          <a:xfrm>
            <a:off x="4519613" y="0"/>
            <a:ext cx="4624388" cy="5143500"/>
          </a:xfrm>
          <a:custGeom>
            <a:avLst/>
            <a:gdLst/>
            <a:ahLst/>
            <a:cxnLst/>
            <a:rect l="l" t="t" r="r" b="b"/>
            <a:pathLst>
              <a:path w="3884" h="4320" extrusionOk="0">
                <a:moveTo>
                  <a:pt x="3502" y="0"/>
                </a:moveTo>
                <a:lnTo>
                  <a:pt x="3502" y="3998"/>
                </a:lnTo>
                <a:lnTo>
                  <a:pt x="0" y="3998"/>
                </a:lnTo>
                <a:lnTo>
                  <a:pt x="0" y="4320"/>
                </a:lnTo>
                <a:lnTo>
                  <a:pt x="3502" y="4320"/>
                </a:lnTo>
                <a:lnTo>
                  <a:pt x="3884" y="4320"/>
                </a:lnTo>
                <a:lnTo>
                  <a:pt x="3884" y="3998"/>
                </a:lnTo>
                <a:lnTo>
                  <a:pt x="3884" y="0"/>
                </a:lnTo>
                <a:lnTo>
                  <a:pt x="3502" y="0"/>
                </a:lnTo>
                <a:close/>
              </a:path>
            </a:pathLst>
          </a:custGeom>
          <a:solidFill>
            <a:srgbClr val="40875A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" name="Google Shape;153;p27"/>
          <p:cNvSpPr/>
          <p:nvPr/>
        </p:nvSpPr>
        <p:spPr>
          <a:xfrm>
            <a:off x="0" y="4758302"/>
            <a:ext cx="205800" cy="383100"/>
          </a:xfrm>
          <a:prstGeom prst="rect">
            <a:avLst/>
          </a:prstGeom>
          <a:solidFill>
            <a:srgbClr val="397D5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7"/>
          <p:cNvSpPr/>
          <p:nvPr/>
        </p:nvSpPr>
        <p:spPr>
          <a:xfrm flipH="1">
            <a:off x="-3293" y="4969599"/>
            <a:ext cx="2103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5" name="Google Shape;155;p27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7693" y="4843995"/>
            <a:ext cx="1258384" cy="211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2 section science highlight">
  <p:cSld name="2_2 section science highligh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/>
          <p:nvPr/>
        </p:nvSpPr>
        <p:spPr>
          <a:xfrm>
            <a:off x="205740" y="1059079"/>
            <a:ext cx="4380300" cy="3970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52000">
                <a:srgbClr val="F2F2F2"/>
              </a:gs>
              <a:gs pos="100000">
                <a:srgbClr val="CFCFCF"/>
              </a:gs>
            </a:gsLst>
            <a:lin ang="16200038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8"/>
          <p:cNvSpPr/>
          <p:nvPr/>
        </p:nvSpPr>
        <p:spPr>
          <a:xfrm>
            <a:off x="4763558" y="1059079"/>
            <a:ext cx="4380300" cy="3970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52000">
                <a:srgbClr val="F2F2F2"/>
              </a:gs>
              <a:gs pos="100000">
                <a:srgbClr val="CFCFCF"/>
              </a:gs>
            </a:gsLst>
            <a:lin ang="16200038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8"/>
          <p:cNvSpPr/>
          <p:nvPr/>
        </p:nvSpPr>
        <p:spPr>
          <a:xfrm>
            <a:off x="205739" y="711028"/>
            <a:ext cx="4380300" cy="36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8"/>
          <p:cNvSpPr/>
          <p:nvPr/>
        </p:nvSpPr>
        <p:spPr>
          <a:xfrm>
            <a:off x="4763558" y="711028"/>
            <a:ext cx="4380300" cy="36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205739" y="754380"/>
            <a:ext cx="436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400"/>
              <a:buNone/>
              <a:defRPr sz="15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2" name="Google Shape;162;p28"/>
          <p:cNvSpPr txBox="1">
            <a:spLocks noGrp="1"/>
          </p:cNvSpPr>
          <p:nvPr>
            <p:ph type="body" idx="2"/>
          </p:nvPr>
        </p:nvSpPr>
        <p:spPr>
          <a:xfrm>
            <a:off x="234176" y="1145286"/>
            <a:ext cx="4337700" cy="30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68575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Char char="•"/>
              <a:defRPr sz="1400"/>
            </a:lvl1pPr>
            <a:lvl2pPr marL="914400" lvl="1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–"/>
              <a:defRPr sz="1200"/>
            </a:lvl2pPr>
            <a:lvl3pPr marL="1371600" lvl="2" indent="-285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 sz="1100"/>
            </a:lvl3pPr>
            <a:lvl4pPr marL="1828800" lvl="3" indent="-285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Char char="–"/>
              <a:defRPr sz="900"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Arial"/>
              <a:buChar char="•"/>
              <a:defRPr sz="11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63" name="Google Shape;163;p28"/>
          <p:cNvSpPr txBox="1">
            <a:spLocks noGrp="1"/>
          </p:cNvSpPr>
          <p:nvPr>
            <p:ph type="body" idx="3"/>
          </p:nvPr>
        </p:nvSpPr>
        <p:spPr>
          <a:xfrm>
            <a:off x="4763558" y="754380"/>
            <a:ext cx="4380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400"/>
              <a:buNone/>
              <a:defRPr sz="15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body" idx="4"/>
          </p:nvPr>
        </p:nvSpPr>
        <p:spPr>
          <a:xfrm>
            <a:off x="4763558" y="1145286"/>
            <a:ext cx="4339200" cy="30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68575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Char char="•"/>
              <a:defRPr sz="1400"/>
            </a:lvl1pPr>
            <a:lvl2pPr marL="914400" lvl="1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–"/>
              <a:defRPr sz="1200"/>
            </a:lvl2pPr>
            <a:lvl3pPr marL="1371600" lvl="2" indent="-285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 sz="1100"/>
            </a:lvl3pPr>
            <a:lvl4pPr marL="1828800" lvl="3" indent="-285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Char char="–"/>
              <a:defRPr sz="900"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»"/>
              <a:defRPr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65" name="Google Shape;165;p28"/>
          <p:cNvSpPr/>
          <p:nvPr/>
        </p:nvSpPr>
        <p:spPr>
          <a:xfrm>
            <a:off x="1330252" y="240030"/>
            <a:ext cx="7813800" cy="383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8"/>
          <p:cNvSpPr txBox="1">
            <a:spLocks noGrp="1"/>
          </p:cNvSpPr>
          <p:nvPr>
            <p:ph type="title"/>
          </p:nvPr>
        </p:nvSpPr>
        <p:spPr>
          <a:xfrm>
            <a:off x="1330251" y="274393"/>
            <a:ext cx="777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00" b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8"/>
          <p:cNvSpPr/>
          <p:nvPr/>
        </p:nvSpPr>
        <p:spPr>
          <a:xfrm>
            <a:off x="0" y="240030"/>
            <a:ext cx="205800" cy="383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8"/>
          <p:cNvSpPr/>
          <p:nvPr/>
        </p:nvSpPr>
        <p:spPr>
          <a:xfrm>
            <a:off x="205740" y="240030"/>
            <a:ext cx="1059600" cy="383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8"/>
          <p:cNvSpPr/>
          <p:nvPr/>
        </p:nvSpPr>
        <p:spPr>
          <a:xfrm flipH="1">
            <a:off x="-3293" y="4969599"/>
            <a:ext cx="2103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0" name="Google Shape;170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9847" y="342183"/>
            <a:ext cx="816102" cy="19639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8"/>
          <p:cNvSpPr txBox="1"/>
          <p:nvPr/>
        </p:nvSpPr>
        <p:spPr>
          <a:xfrm>
            <a:off x="6007711" y="4937760"/>
            <a:ext cx="2895600" cy="1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10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3 section science highlight">
  <p:cSld name="1_3 section science highligh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/>
          <p:nvPr/>
        </p:nvSpPr>
        <p:spPr>
          <a:xfrm>
            <a:off x="205740" y="1059079"/>
            <a:ext cx="2901000" cy="3918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52000">
                <a:srgbClr val="F2F2F2"/>
              </a:gs>
              <a:gs pos="100000">
                <a:srgbClr val="CFCFCF"/>
              </a:gs>
            </a:gsLst>
            <a:lin ang="16200038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9"/>
          <p:cNvSpPr/>
          <p:nvPr/>
        </p:nvSpPr>
        <p:spPr>
          <a:xfrm>
            <a:off x="3224318" y="1059079"/>
            <a:ext cx="2901000" cy="3918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52000">
                <a:srgbClr val="F2F2F2"/>
              </a:gs>
              <a:gs pos="100000">
                <a:srgbClr val="CFCFCF"/>
              </a:gs>
            </a:gsLst>
            <a:lin ang="16200038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9"/>
          <p:cNvSpPr/>
          <p:nvPr/>
        </p:nvSpPr>
        <p:spPr>
          <a:xfrm>
            <a:off x="6242895" y="1059079"/>
            <a:ext cx="2901000" cy="39183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52000">
                <a:srgbClr val="F2F2F2"/>
              </a:gs>
              <a:gs pos="100000">
                <a:srgbClr val="CFCFCF"/>
              </a:gs>
            </a:gsLst>
            <a:lin ang="16200038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9"/>
          <p:cNvSpPr/>
          <p:nvPr/>
        </p:nvSpPr>
        <p:spPr>
          <a:xfrm>
            <a:off x="205740" y="711028"/>
            <a:ext cx="2900100" cy="36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9"/>
          <p:cNvSpPr/>
          <p:nvPr/>
        </p:nvSpPr>
        <p:spPr>
          <a:xfrm>
            <a:off x="3224317" y="711028"/>
            <a:ext cx="2901000" cy="36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9"/>
          <p:cNvSpPr/>
          <p:nvPr/>
        </p:nvSpPr>
        <p:spPr>
          <a:xfrm>
            <a:off x="6242895" y="711028"/>
            <a:ext cx="2914500" cy="36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9"/>
          <p:cNvSpPr txBox="1">
            <a:spLocks noGrp="1"/>
          </p:cNvSpPr>
          <p:nvPr>
            <p:ph type="body" idx="1"/>
          </p:nvPr>
        </p:nvSpPr>
        <p:spPr>
          <a:xfrm>
            <a:off x="202633" y="754380"/>
            <a:ext cx="2903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400"/>
              <a:buNone/>
              <a:defRPr sz="15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80" name="Google Shape;180;p29"/>
          <p:cNvSpPr txBox="1">
            <a:spLocks noGrp="1"/>
          </p:cNvSpPr>
          <p:nvPr>
            <p:ph type="body" idx="2"/>
          </p:nvPr>
        </p:nvSpPr>
        <p:spPr>
          <a:xfrm>
            <a:off x="234176" y="1145286"/>
            <a:ext cx="2843700" cy="30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68575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Char char="•"/>
              <a:defRPr sz="1400"/>
            </a:lvl1pPr>
            <a:lvl2pPr marL="914400" lvl="1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–"/>
              <a:defRPr sz="1200"/>
            </a:lvl2pPr>
            <a:lvl3pPr marL="1371600" lvl="2" indent="-285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 sz="1100"/>
            </a:lvl3pPr>
            <a:lvl4pPr marL="1828800" lvl="3" indent="-285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Char char="–"/>
              <a:defRPr sz="900"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Arial"/>
              <a:buChar char="•"/>
              <a:defRPr sz="11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81" name="Google Shape;181;p29"/>
          <p:cNvSpPr txBox="1">
            <a:spLocks noGrp="1"/>
          </p:cNvSpPr>
          <p:nvPr>
            <p:ph type="body" idx="3"/>
          </p:nvPr>
        </p:nvSpPr>
        <p:spPr>
          <a:xfrm>
            <a:off x="3223282" y="754380"/>
            <a:ext cx="2900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400"/>
              <a:buNone/>
              <a:defRPr sz="15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82" name="Google Shape;182;p29"/>
          <p:cNvSpPr txBox="1">
            <a:spLocks noGrp="1"/>
          </p:cNvSpPr>
          <p:nvPr>
            <p:ph type="body" idx="4"/>
          </p:nvPr>
        </p:nvSpPr>
        <p:spPr>
          <a:xfrm>
            <a:off x="3221381" y="1145286"/>
            <a:ext cx="2895600" cy="30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68575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Char char="•"/>
              <a:defRPr sz="1400"/>
            </a:lvl1pPr>
            <a:lvl2pPr marL="914400" lvl="1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–"/>
              <a:defRPr sz="1200"/>
            </a:lvl2pPr>
            <a:lvl3pPr marL="1371600" lvl="2" indent="-285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 sz="1100"/>
            </a:lvl3pPr>
            <a:lvl4pPr marL="1828800" lvl="3" indent="-285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Char char="–"/>
              <a:defRPr sz="900"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»"/>
              <a:defRPr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83" name="Google Shape;183;p29"/>
          <p:cNvSpPr txBox="1">
            <a:spLocks noGrp="1"/>
          </p:cNvSpPr>
          <p:nvPr>
            <p:ph type="body" idx="5"/>
          </p:nvPr>
        </p:nvSpPr>
        <p:spPr>
          <a:xfrm>
            <a:off x="6239789" y="754380"/>
            <a:ext cx="2914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400"/>
              <a:buNone/>
              <a:defRPr sz="15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84" name="Google Shape;184;p29"/>
          <p:cNvSpPr txBox="1">
            <a:spLocks noGrp="1"/>
          </p:cNvSpPr>
          <p:nvPr>
            <p:ph type="body" idx="6"/>
          </p:nvPr>
        </p:nvSpPr>
        <p:spPr>
          <a:xfrm>
            <a:off x="6239789" y="1145286"/>
            <a:ext cx="2826300" cy="30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68575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Char char="•"/>
              <a:defRPr sz="1400"/>
            </a:lvl1pPr>
            <a:lvl2pPr marL="914400" lvl="1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–"/>
              <a:defRPr sz="1200"/>
            </a:lvl2pPr>
            <a:lvl3pPr marL="1371600" lvl="2" indent="-285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 sz="1100"/>
            </a:lvl3pPr>
            <a:lvl4pPr marL="1828800" lvl="3" indent="-285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Char char="–"/>
              <a:defRPr sz="900"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»"/>
              <a:defRPr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85" name="Google Shape;185;p29"/>
          <p:cNvSpPr/>
          <p:nvPr/>
        </p:nvSpPr>
        <p:spPr>
          <a:xfrm>
            <a:off x="1330252" y="240030"/>
            <a:ext cx="7813800" cy="383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9"/>
          <p:cNvSpPr txBox="1">
            <a:spLocks noGrp="1"/>
          </p:cNvSpPr>
          <p:nvPr>
            <p:ph type="title"/>
          </p:nvPr>
        </p:nvSpPr>
        <p:spPr>
          <a:xfrm>
            <a:off x="1330251" y="274393"/>
            <a:ext cx="7813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00" b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9"/>
          <p:cNvSpPr/>
          <p:nvPr/>
        </p:nvSpPr>
        <p:spPr>
          <a:xfrm>
            <a:off x="0" y="240030"/>
            <a:ext cx="205800" cy="383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9"/>
          <p:cNvSpPr/>
          <p:nvPr/>
        </p:nvSpPr>
        <p:spPr>
          <a:xfrm>
            <a:off x="205740" y="240030"/>
            <a:ext cx="1059600" cy="383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9"/>
          <p:cNvSpPr/>
          <p:nvPr/>
        </p:nvSpPr>
        <p:spPr>
          <a:xfrm flipH="1">
            <a:off x="-3293" y="4969599"/>
            <a:ext cx="2103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0" name="Google Shape;190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9847" y="342183"/>
            <a:ext cx="816102" cy="19639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9"/>
          <p:cNvSpPr txBox="1"/>
          <p:nvPr/>
        </p:nvSpPr>
        <p:spPr>
          <a:xfrm>
            <a:off x="6007711" y="4937760"/>
            <a:ext cx="2895600" cy="1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BFBFB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10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_3 section science highlight">
  <p:cSld name="5_3 section science highlight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/>
          <p:nvPr/>
        </p:nvSpPr>
        <p:spPr>
          <a:xfrm>
            <a:off x="205739" y="1076194"/>
            <a:ext cx="2156100" cy="3901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52000">
                <a:srgbClr val="F2F2F2"/>
              </a:gs>
              <a:gs pos="100000">
                <a:srgbClr val="CFCFCF"/>
              </a:gs>
            </a:gsLst>
            <a:lin ang="16200038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0"/>
          <p:cNvSpPr/>
          <p:nvPr/>
        </p:nvSpPr>
        <p:spPr>
          <a:xfrm>
            <a:off x="205740" y="711028"/>
            <a:ext cx="2156100" cy="36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0"/>
          <p:cNvSpPr/>
          <p:nvPr/>
        </p:nvSpPr>
        <p:spPr>
          <a:xfrm>
            <a:off x="2466457" y="1076194"/>
            <a:ext cx="2156100" cy="3901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52000">
                <a:srgbClr val="F2F2F2"/>
              </a:gs>
              <a:gs pos="100000">
                <a:srgbClr val="CFCFCF"/>
              </a:gs>
            </a:gsLst>
            <a:lin ang="16200038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0"/>
          <p:cNvSpPr/>
          <p:nvPr/>
        </p:nvSpPr>
        <p:spPr>
          <a:xfrm>
            <a:off x="2466457" y="711028"/>
            <a:ext cx="2156100" cy="36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0"/>
          <p:cNvSpPr/>
          <p:nvPr/>
        </p:nvSpPr>
        <p:spPr>
          <a:xfrm>
            <a:off x="4727175" y="1076194"/>
            <a:ext cx="2156100" cy="3901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52000">
                <a:srgbClr val="F2F2F2"/>
              </a:gs>
              <a:gs pos="100000">
                <a:srgbClr val="CFCFCF"/>
              </a:gs>
            </a:gsLst>
            <a:lin ang="16200038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0"/>
          <p:cNvSpPr/>
          <p:nvPr/>
        </p:nvSpPr>
        <p:spPr>
          <a:xfrm>
            <a:off x="4727176" y="711028"/>
            <a:ext cx="2156100" cy="36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0"/>
          <p:cNvSpPr/>
          <p:nvPr/>
        </p:nvSpPr>
        <p:spPr>
          <a:xfrm>
            <a:off x="6987894" y="1076194"/>
            <a:ext cx="2156100" cy="3901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52000">
                <a:srgbClr val="F2F2F2"/>
              </a:gs>
              <a:gs pos="100000">
                <a:srgbClr val="CFCFCF"/>
              </a:gs>
            </a:gsLst>
            <a:lin ang="16200038" scaled="0"/>
          </a:gra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0"/>
          <p:cNvSpPr/>
          <p:nvPr/>
        </p:nvSpPr>
        <p:spPr>
          <a:xfrm>
            <a:off x="6987895" y="711028"/>
            <a:ext cx="2156100" cy="36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0"/>
          <p:cNvSpPr txBox="1">
            <a:spLocks noGrp="1"/>
          </p:cNvSpPr>
          <p:nvPr>
            <p:ph type="body" idx="1"/>
          </p:nvPr>
        </p:nvSpPr>
        <p:spPr>
          <a:xfrm>
            <a:off x="205739" y="754380"/>
            <a:ext cx="214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400"/>
              <a:buNone/>
              <a:defRPr sz="15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02" name="Google Shape;202;p30"/>
          <p:cNvSpPr txBox="1">
            <a:spLocks noGrp="1"/>
          </p:cNvSpPr>
          <p:nvPr>
            <p:ph type="body" idx="2"/>
          </p:nvPr>
        </p:nvSpPr>
        <p:spPr>
          <a:xfrm>
            <a:off x="205739" y="1145286"/>
            <a:ext cx="2146200" cy="3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68575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Char char="•"/>
              <a:defRPr sz="1400"/>
            </a:lvl1pPr>
            <a:lvl2pPr marL="914400" lvl="1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–"/>
              <a:defRPr sz="1200"/>
            </a:lvl2pPr>
            <a:lvl3pPr marL="1371600" lvl="2" indent="-285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 sz="1100"/>
            </a:lvl3pPr>
            <a:lvl4pPr marL="1828800" lvl="3" indent="-285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Char char="–"/>
              <a:defRPr sz="900"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Arial"/>
              <a:buChar char="•"/>
              <a:defRPr sz="11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203" name="Google Shape;203;p30"/>
          <p:cNvSpPr txBox="1">
            <a:spLocks noGrp="1"/>
          </p:cNvSpPr>
          <p:nvPr>
            <p:ph type="body" idx="3"/>
          </p:nvPr>
        </p:nvSpPr>
        <p:spPr>
          <a:xfrm>
            <a:off x="2466457" y="754380"/>
            <a:ext cx="2156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400"/>
              <a:buNone/>
              <a:defRPr sz="15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04" name="Google Shape;204;p30"/>
          <p:cNvSpPr txBox="1">
            <a:spLocks noGrp="1"/>
          </p:cNvSpPr>
          <p:nvPr>
            <p:ph type="body" idx="4"/>
          </p:nvPr>
        </p:nvSpPr>
        <p:spPr>
          <a:xfrm>
            <a:off x="2466457" y="1145286"/>
            <a:ext cx="2156100" cy="3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68575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Char char="•"/>
              <a:defRPr sz="1400"/>
            </a:lvl1pPr>
            <a:lvl2pPr marL="914400" lvl="1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–"/>
              <a:defRPr sz="1200"/>
            </a:lvl2pPr>
            <a:lvl3pPr marL="1371600" lvl="2" indent="-285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 sz="1100"/>
            </a:lvl3pPr>
            <a:lvl4pPr marL="1828800" lvl="3" indent="-285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Char char="–"/>
              <a:defRPr sz="900"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»"/>
              <a:defRPr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205" name="Google Shape;205;p30"/>
          <p:cNvSpPr txBox="1">
            <a:spLocks noGrp="1"/>
          </p:cNvSpPr>
          <p:nvPr>
            <p:ph type="body" idx="5"/>
          </p:nvPr>
        </p:nvSpPr>
        <p:spPr>
          <a:xfrm>
            <a:off x="4734714" y="754380"/>
            <a:ext cx="2148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400"/>
              <a:buNone/>
              <a:defRPr sz="15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body" idx="6"/>
          </p:nvPr>
        </p:nvSpPr>
        <p:spPr>
          <a:xfrm>
            <a:off x="4734714" y="1145286"/>
            <a:ext cx="2148600" cy="3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68575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Char char="•"/>
              <a:defRPr sz="1400"/>
            </a:lvl1pPr>
            <a:lvl2pPr marL="914400" lvl="1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–"/>
              <a:defRPr sz="1200"/>
            </a:lvl2pPr>
            <a:lvl3pPr marL="1371600" lvl="2" indent="-285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 sz="1100"/>
            </a:lvl3pPr>
            <a:lvl4pPr marL="1828800" lvl="3" indent="-285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Char char="–"/>
              <a:defRPr sz="900"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»"/>
              <a:defRPr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207" name="Google Shape;207;p30"/>
          <p:cNvSpPr/>
          <p:nvPr/>
        </p:nvSpPr>
        <p:spPr>
          <a:xfrm>
            <a:off x="1330252" y="240030"/>
            <a:ext cx="7813800" cy="383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0"/>
          <p:cNvSpPr txBox="1">
            <a:spLocks noGrp="1"/>
          </p:cNvSpPr>
          <p:nvPr>
            <p:ph type="title"/>
          </p:nvPr>
        </p:nvSpPr>
        <p:spPr>
          <a:xfrm>
            <a:off x="1330252" y="274393"/>
            <a:ext cx="7813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00" b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30"/>
          <p:cNvSpPr/>
          <p:nvPr/>
        </p:nvSpPr>
        <p:spPr>
          <a:xfrm>
            <a:off x="0" y="240030"/>
            <a:ext cx="205800" cy="383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0"/>
          <p:cNvSpPr/>
          <p:nvPr/>
        </p:nvSpPr>
        <p:spPr>
          <a:xfrm>
            <a:off x="205740" y="240030"/>
            <a:ext cx="1059600" cy="383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0"/>
          <p:cNvSpPr/>
          <p:nvPr/>
        </p:nvSpPr>
        <p:spPr>
          <a:xfrm flipH="1">
            <a:off x="-3293" y="4969599"/>
            <a:ext cx="2103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2" name="Google Shape;212;p30"/>
          <p:cNvSpPr txBox="1">
            <a:spLocks noGrp="1"/>
          </p:cNvSpPr>
          <p:nvPr>
            <p:ph type="body" idx="7"/>
          </p:nvPr>
        </p:nvSpPr>
        <p:spPr>
          <a:xfrm>
            <a:off x="6987893" y="754380"/>
            <a:ext cx="2148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400"/>
              <a:buNone/>
              <a:defRPr sz="1500" b="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13" name="Google Shape;213;p30"/>
          <p:cNvSpPr txBox="1">
            <a:spLocks noGrp="1"/>
          </p:cNvSpPr>
          <p:nvPr>
            <p:ph type="body" idx="8"/>
          </p:nvPr>
        </p:nvSpPr>
        <p:spPr>
          <a:xfrm>
            <a:off x="6987893" y="1145286"/>
            <a:ext cx="2148600" cy="3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68575" anchor="t" anchorCtr="0">
            <a:noAutofit/>
          </a:bodyPr>
          <a:lstStyle>
            <a:lvl1pPr marL="457200" lvl="0" indent="-3048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200"/>
              <a:buChar char="•"/>
              <a:defRPr sz="1400"/>
            </a:lvl1pPr>
            <a:lvl2pPr marL="914400" lvl="1" indent="-2984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–"/>
              <a:defRPr sz="1200"/>
            </a:lvl2pPr>
            <a:lvl3pPr marL="1371600" lvl="2" indent="-285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Char char="•"/>
              <a:defRPr sz="1100"/>
            </a:lvl3pPr>
            <a:lvl4pPr marL="1828800" lvl="3" indent="-285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Char char="–"/>
              <a:defRPr sz="900"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»"/>
              <a:defRPr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pic>
        <p:nvPicPr>
          <p:cNvPr id="214" name="Google Shape;214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703" y="331178"/>
            <a:ext cx="820245" cy="198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300" b="0" i="0" u="none" strike="noStrike" cap="none">
                <a:solidFill>
                  <a:srgbClr val="006C3A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R="0"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300" b="0" i="0" u="none" strike="noStrike" cap="none">
                <a:solidFill>
                  <a:srgbClr val="006C3A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R="0"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300" b="0" i="0" u="none" strike="noStrike" cap="none">
                <a:solidFill>
                  <a:srgbClr val="006C3A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R="0"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300" b="0" i="0" u="none" strike="noStrike" cap="none">
                <a:solidFill>
                  <a:srgbClr val="006C3A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R="0"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300" b="0" i="0" u="none" strike="noStrike" cap="none">
                <a:solidFill>
                  <a:srgbClr val="006C3A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R="0"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300" b="0" i="0" u="none" strike="noStrike" cap="none">
                <a:solidFill>
                  <a:srgbClr val="006C3A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R="0"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300" b="0" i="0" u="none" strike="noStrike" cap="none">
                <a:solidFill>
                  <a:srgbClr val="006C3A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R="0"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300" b="0" i="0" u="none" strike="noStrike" cap="none">
                <a:solidFill>
                  <a:srgbClr val="006C3A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38711" y="1237522"/>
            <a:ext cx="8564700" cy="30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925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•"/>
              <a:defRPr sz="21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Char char="–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 flipH="1">
            <a:off x="-3293" y="4969599"/>
            <a:ext cx="2103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7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0" y="240030"/>
            <a:ext cx="205800" cy="490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 flipH="1">
            <a:off x="-3293" y="4962455"/>
            <a:ext cx="2103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7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6" name="Google Shape;56;p13" descr="A close up of a logo&#10;&#10;Description automatically generated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317693" y="4843995"/>
            <a:ext cx="1258384" cy="2115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esonance.iqm.tech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ircuitverse.org/simulator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qmacademy.com/play/bloch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oSkEUsynU4inBGOtZayuExWJ27cysQq_/view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OeoXOhpO1tw?si=RdqyYRWJ1UQ6FTax" TargetMode="External"/><Relationship Id="rId3" Type="http://schemas.openxmlformats.org/officeDocument/2006/relationships/hyperlink" Target="https://www.bluequbit.io/blog/quantum-computing-vs-classical-computing" TargetMode="External"/><Relationship Id="rId7" Type="http://schemas.openxmlformats.org/officeDocument/2006/relationships/hyperlink" Target="https://youtu.be/uLnGp1WTNFQ?is=W-ZqWaGPBGEC90QK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youtu.be/HHV-P4_Xp1E?is=_sNg1mHTJ_4YPbT7" TargetMode="External"/><Relationship Id="rId5" Type="http://schemas.openxmlformats.org/officeDocument/2006/relationships/hyperlink" Target="https://aws.amazon.com/blogs/quantum-computing/noise-in-quantum-computing/" TargetMode="External"/><Relationship Id="rId4" Type="http://schemas.openxmlformats.org/officeDocument/2006/relationships/hyperlink" Target="https://www.ornl.gov/news/ornl-deploys-new-iqm-quantum-comput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>
            <a:spLocks noGrp="1"/>
          </p:cNvSpPr>
          <p:nvPr>
            <p:ph type="ctrTitle"/>
          </p:nvPr>
        </p:nvSpPr>
        <p:spPr>
          <a:xfrm>
            <a:off x="321550" y="1041725"/>
            <a:ext cx="66951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Qubits and Quantum Circuits</a:t>
            </a:r>
            <a:endParaRPr/>
          </a:p>
        </p:txBody>
      </p:sp>
      <p:sp>
        <p:nvSpPr>
          <p:cNvPr id="220" name="Google Shape;220;p31"/>
          <p:cNvSpPr txBox="1">
            <a:spLocks noGrp="1"/>
          </p:cNvSpPr>
          <p:nvPr>
            <p:ph type="subTitle" idx="1"/>
          </p:nvPr>
        </p:nvSpPr>
        <p:spPr>
          <a:xfrm>
            <a:off x="335611" y="1893628"/>
            <a:ext cx="561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Chance Loveday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Next Generation Pathways 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10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Oak Ridge Leadership Computing Facility (OLCF)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10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Oak Ridge National Laboratory (ORNL)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100"/>
              <a:buNone/>
            </a:pPr>
            <a:endParaRPr sz="12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July 13,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IQM Material</a:t>
            </a:r>
            <a:endParaRPr/>
          </a:p>
        </p:txBody>
      </p:sp>
      <p:sp>
        <p:nvSpPr>
          <p:cNvPr id="232" name="Google Shape;232;p33"/>
          <p:cNvSpPr txBox="1">
            <a:spLocks noGrp="1"/>
          </p:cNvSpPr>
          <p:nvPr>
            <p:ph type="body" idx="1"/>
          </p:nvPr>
        </p:nvSpPr>
        <p:spPr>
          <a:xfrm>
            <a:off x="338711" y="980347"/>
            <a:ext cx="8805300" cy="3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No Odo needed for this lesson.</a:t>
            </a:r>
            <a:endParaRPr sz="1800"/>
          </a:p>
          <a:p>
            <a:pPr marL="91440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Since we’re talking about quantum, today will be more conceptual.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If you would like to explore how to use IQM packages, such as Qcrip and Qiskit for scripting, check out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IQM Resonance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Classical Computing:</a:t>
            </a:r>
            <a:r>
              <a:rPr lang="en"/>
              <a:t> What are Bits?</a:t>
            </a:r>
            <a:endParaRPr/>
          </a:p>
        </p:txBody>
      </p:sp>
      <p:sp>
        <p:nvSpPr>
          <p:cNvPr id="238" name="Google Shape;238;p34"/>
          <p:cNvSpPr txBox="1">
            <a:spLocks noGrp="1"/>
          </p:cNvSpPr>
          <p:nvPr>
            <p:ph type="body" idx="1"/>
          </p:nvPr>
        </p:nvSpPr>
        <p:spPr>
          <a:xfrm>
            <a:off x="338711" y="980347"/>
            <a:ext cx="8805300" cy="3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Bits are small binary objects in classical computers that make a single decision</a:t>
            </a:r>
            <a:endParaRPr sz="1800"/>
          </a:p>
          <a:p>
            <a:pPr marL="1371600" lvl="1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Two possible states: 0 or 1</a:t>
            </a:r>
            <a:endParaRPr sz="1500"/>
          </a:p>
          <a:p>
            <a:pPr marL="1371600" lvl="1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Ex. Your phone is either on (1) or off (0)</a:t>
            </a:r>
            <a:endParaRPr sz="1500"/>
          </a:p>
          <a:p>
            <a:pPr marL="1371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Each bit acts like a signal to the computer.</a:t>
            </a:r>
            <a:endParaRPr sz="1800"/>
          </a:p>
          <a:p>
            <a:pPr marL="1371600" lvl="1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Composed of tiny transistors that turn on and off electrical signals</a:t>
            </a:r>
            <a:endParaRPr sz="1500"/>
          </a:p>
          <a:p>
            <a:pPr marL="1371600" lvl="1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Think of bits like a switch turning on or off a lightbulb</a:t>
            </a:r>
            <a:endParaRPr sz="1500"/>
          </a:p>
        </p:txBody>
      </p:sp>
      <p:pic>
        <p:nvPicPr>
          <p:cNvPr id="239" name="Google Shape;23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450" y="3285425"/>
            <a:ext cx="4099975" cy="1119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6425" y="3285425"/>
            <a:ext cx="4463369" cy="1119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4"/>
          <p:cNvSpPr txBox="1"/>
          <p:nvPr/>
        </p:nvSpPr>
        <p:spPr>
          <a:xfrm>
            <a:off x="682761" y="2950600"/>
            <a:ext cx="4083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Bit</a:t>
            </a:r>
            <a:endParaRPr sz="15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" name="Google Shape;242;p34"/>
          <p:cNvSpPr txBox="1"/>
          <p:nvPr/>
        </p:nvSpPr>
        <p:spPr>
          <a:xfrm>
            <a:off x="4850136" y="2950600"/>
            <a:ext cx="4083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Bit</a:t>
            </a:r>
            <a:endParaRPr sz="15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Classical Computing:</a:t>
            </a:r>
            <a:r>
              <a:rPr lang="en"/>
              <a:t> What are Bits?</a:t>
            </a:r>
            <a:endParaRPr/>
          </a:p>
        </p:txBody>
      </p:sp>
      <p:sp>
        <p:nvSpPr>
          <p:cNvPr id="248" name="Google Shape;248;p35"/>
          <p:cNvSpPr txBox="1">
            <a:spLocks noGrp="1"/>
          </p:cNvSpPr>
          <p:nvPr>
            <p:ph type="body" idx="1"/>
          </p:nvPr>
        </p:nvSpPr>
        <p:spPr>
          <a:xfrm>
            <a:off x="338700" y="980350"/>
            <a:ext cx="8805300" cy="12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Bits are the building blocks to everything you do on any computer, phone, etc.</a:t>
            </a:r>
            <a:endParaRPr sz="1800"/>
          </a:p>
          <a:p>
            <a:pPr marL="1371600" lvl="1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They represent everything on your system, from adjusting volume to a YouTube video</a:t>
            </a:r>
            <a:endParaRPr sz="1500"/>
          </a:p>
          <a:p>
            <a:pPr marL="1371600" lvl="1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They do this by applying operations via gates</a:t>
            </a:r>
            <a:endParaRPr sz="1500"/>
          </a:p>
        </p:txBody>
      </p:sp>
      <p:sp>
        <p:nvSpPr>
          <p:cNvPr id="249" name="Google Shape;249;p35"/>
          <p:cNvSpPr/>
          <p:nvPr/>
        </p:nvSpPr>
        <p:spPr>
          <a:xfrm>
            <a:off x="2208462" y="2280025"/>
            <a:ext cx="4727100" cy="2686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Operating System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50" name="Google Shape;250;p35"/>
          <p:cNvGrpSpPr/>
          <p:nvPr/>
        </p:nvGrpSpPr>
        <p:grpSpPr>
          <a:xfrm>
            <a:off x="3466849" y="2656736"/>
            <a:ext cx="2259018" cy="2258501"/>
            <a:chOff x="2604900" y="605090"/>
            <a:chExt cx="3934200" cy="3933300"/>
          </a:xfrm>
        </p:grpSpPr>
        <p:sp>
          <p:nvSpPr>
            <p:cNvPr id="251" name="Google Shape;251;p35"/>
            <p:cNvSpPr/>
            <p:nvPr/>
          </p:nvSpPr>
          <p:spPr>
            <a:xfrm>
              <a:off x="2604900" y="605090"/>
              <a:ext cx="3934200" cy="3933300"/>
            </a:xfrm>
            <a:prstGeom prst="ellipse">
              <a:avLst/>
            </a:prstGeom>
            <a:solidFill>
              <a:srgbClr val="006C3A"/>
            </a:solidFill>
            <a:ln>
              <a:noFill/>
            </a:ln>
          </p:spPr>
          <p:txBody>
            <a:bodyPr spcFirstLastPara="1" wrap="square" lIns="52500" tIns="52500" rIns="52500" bIns="52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5"/>
            <p:cNvSpPr txBox="1"/>
            <p:nvPr/>
          </p:nvSpPr>
          <p:spPr>
            <a:xfrm>
              <a:off x="3608400" y="687876"/>
              <a:ext cx="1927200" cy="687600"/>
            </a:xfrm>
            <a:prstGeom prst="rect">
              <a:avLst/>
            </a:prstGeom>
            <a:solidFill>
              <a:srgbClr val="006C3A"/>
            </a:solidFill>
            <a:ln>
              <a:noFill/>
            </a:ln>
          </p:spPr>
          <p:txBody>
            <a:bodyPr spcFirstLastPara="1" wrap="square" lIns="52500" tIns="52500" rIns="52500" bIns="52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7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CPU</a:t>
              </a:r>
              <a:endParaRPr sz="57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3" name="Google Shape;253;p35"/>
          <p:cNvGrpSpPr/>
          <p:nvPr/>
        </p:nvGrpSpPr>
        <p:grpSpPr>
          <a:xfrm>
            <a:off x="3671580" y="3066025"/>
            <a:ext cx="1849556" cy="1849211"/>
            <a:chOff x="2961450" y="1317890"/>
            <a:chExt cx="3221100" cy="3220500"/>
          </a:xfrm>
        </p:grpSpPr>
        <p:sp>
          <p:nvSpPr>
            <p:cNvPr id="254" name="Google Shape;254;p35"/>
            <p:cNvSpPr/>
            <p:nvPr/>
          </p:nvSpPr>
          <p:spPr>
            <a:xfrm>
              <a:off x="2961450" y="1317890"/>
              <a:ext cx="3221100" cy="3220500"/>
            </a:xfrm>
            <a:prstGeom prst="ellipse">
              <a:avLst/>
            </a:prstGeom>
            <a:solidFill>
              <a:srgbClr val="40875A"/>
            </a:solidFill>
            <a:ln>
              <a:noFill/>
            </a:ln>
          </p:spPr>
          <p:txBody>
            <a:bodyPr spcFirstLastPara="1" wrap="square" lIns="52500" tIns="52500" rIns="52500" bIns="52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5"/>
            <p:cNvSpPr txBox="1"/>
            <p:nvPr/>
          </p:nvSpPr>
          <p:spPr>
            <a:xfrm>
              <a:off x="3783000" y="1557225"/>
              <a:ext cx="1578000" cy="563100"/>
            </a:xfrm>
            <a:prstGeom prst="rect">
              <a:avLst/>
            </a:prstGeom>
            <a:solidFill>
              <a:srgbClr val="40875A"/>
            </a:solidFill>
            <a:ln>
              <a:noFill/>
            </a:ln>
          </p:spPr>
          <p:txBody>
            <a:bodyPr spcFirstLastPara="1" wrap="square" lIns="52500" tIns="52500" rIns="52500" bIns="52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7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Arithmetic Logic Unit (ALU)</a:t>
              </a:r>
              <a:endParaRPr sz="57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6" name="Google Shape;256;p35"/>
          <p:cNvGrpSpPr/>
          <p:nvPr/>
        </p:nvGrpSpPr>
        <p:grpSpPr>
          <a:xfrm>
            <a:off x="3924372" y="3571264"/>
            <a:ext cx="1343973" cy="1343973"/>
            <a:chOff x="3401700" y="2197790"/>
            <a:chExt cx="2340600" cy="2340600"/>
          </a:xfrm>
        </p:grpSpPr>
        <p:sp>
          <p:nvSpPr>
            <p:cNvPr id="257" name="Google Shape;257;p35"/>
            <p:cNvSpPr/>
            <p:nvPr/>
          </p:nvSpPr>
          <p:spPr>
            <a:xfrm>
              <a:off x="3401700" y="2197790"/>
              <a:ext cx="2340600" cy="23406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spcFirstLastPara="1" wrap="square" lIns="52500" tIns="52500" rIns="52500" bIns="52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5"/>
            <p:cNvSpPr txBox="1"/>
            <p:nvPr/>
          </p:nvSpPr>
          <p:spPr>
            <a:xfrm>
              <a:off x="3833400" y="2483075"/>
              <a:ext cx="1477200" cy="534000"/>
            </a:xfrm>
            <a:prstGeom prst="rect">
              <a:avLst/>
            </a:prstGeom>
            <a:solidFill>
              <a:srgbClr val="6AA84F"/>
            </a:solidFill>
            <a:ln>
              <a:noFill/>
            </a:ln>
          </p:spPr>
          <p:txBody>
            <a:bodyPr spcFirstLastPara="1" wrap="square" lIns="52500" tIns="52500" rIns="52500" bIns="52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7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Multi-Gate Operations (e.g., Adders)</a:t>
              </a:r>
              <a:endParaRPr sz="57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9" name="Google Shape;259;p35"/>
          <p:cNvGrpSpPr/>
          <p:nvPr/>
        </p:nvGrpSpPr>
        <p:grpSpPr>
          <a:xfrm>
            <a:off x="4172340" y="4067028"/>
            <a:ext cx="848036" cy="848208"/>
            <a:chOff x="3833550" y="3061190"/>
            <a:chExt cx="1476900" cy="1477200"/>
          </a:xfrm>
        </p:grpSpPr>
        <p:sp>
          <p:nvSpPr>
            <p:cNvPr id="260" name="Google Shape;260;p35"/>
            <p:cNvSpPr/>
            <p:nvPr/>
          </p:nvSpPr>
          <p:spPr>
            <a:xfrm>
              <a:off x="3833550" y="3061190"/>
              <a:ext cx="1476900" cy="1477200"/>
            </a:xfrm>
            <a:prstGeom prst="ellipse">
              <a:avLst/>
            </a:prstGeom>
            <a:solidFill>
              <a:srgbClr val="93C47D"/>
            </a:solidFill>
            <a:ln>
              <a:noFill/>
            </a:ln>
          </p:spPr>
          <p:txBody>
            <a:bodyPr spcFirstLastPara="1" wrap="square" lIns="52500" tIns="52500" rIns="52500" bIns="52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63"/>
            </a:p>
          </p:txBody>
        </p:sp>
        <p:sp>
          <p:nvSpPr>
            <p:cNvPr id="261" name="Google Shape;261;p35"/>
            <p:cNvSpPr txBox="1"/>
            <p:nvPr/>
          </p:nvSpPr>
          <p:spPr>
            <a:xfrm>
              <a:off x="3957000" y="3499463"/>
              <a:ext cx="1230000" cy="6492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spcFirstLastPara="1" wrap="square" lIns="52500" tIns="52500" rIns="52500" bIns="52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7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Single Logic Gates</a:t>
              </a:r>
              <a:endParaRPr sz="57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Classical Computing:</a:t>
            </a:r>
            <a:r>
              <a:rPr lang="en"/>
              <a:t> Logic Gates</a:t>
            </a:r>
            <a:endParaRPr/>
          </a:p>
        </p:txBody>
      </p:sp>
      <p:sp>
        <p:nvSpPr>
          <p:cNvPr id="267" name="Google Shape;267;p36"/>
          <p:cNvSpPr txBox="1">
            <a:spLocks noGrp="1"/>
          </p:cNvSpPr>
          <p:nvPr>
            <p:ph type="body" idx="1"/>
          </p:nvPr>
        </p:nvSpPr>
        <p:spPr>
          <a:xfrm>
            <a:off x="338700" y="980348"/>
            <a:ext cx="8805300" cy="13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Computers apply operations to bits via gates.</a:t>
            </a: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These operations combine to form more complex actions</a:t>
            </a:r>
            <a:endParaRPr sz="1800"/>
          </a:p>
          <a:p>
            <a:pPr marL="0" lvl="0" indent="4572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Simulation Link: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https://circuitverse.org/simulator</a:t>
            </a:r>
            <a:endParaRPr sz="1800"/>
          </a:p>
          <a:p>
            <a:pPr marL="0" lvl="0" indent="4572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 i="1"/>
              <a:t>Go back to thinking about light switches</a:t>
            </a:r>
            <a:endParaRPr sz="1800" i="1"/>
          </a:p>
        </p:txBody>
      </p:sp>
      <p:pic>
        <p:nvPicPr>
          <p:cNvPr id="268" name="Google Shape;268;p36"/>
          <p:cNvPicPr preferRelativeResize="0"/>
          <p:nvPr/>
        </p:nvPicPr>
        <p:blipFill rotWithShape="1">
          <a:blip r:embed="rId4">
            <a:alphaModFix/>
          </a:blip>
          <a:srcRect l="2397" r="82181"/>
          <a:stretch/>
        </p:blipFill>
        <p:spPr>
          <a:xfrm>
            <a:off x="949975" y="3556950"/>
            <a:ext cx="688376" cy="111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6"/>
          <p:cNvPicPr preferRelativeResize="0"/>
          <p:nvPr/>
        </p:nvPicPr>
        <p:blipFill rotWithShape="1">
          <a:blip r:embed="rId4">
            <a:alphaModFix/>
          </a:blip>
          <a:srcRect l="2397" r="82181"/>
          <a:stretch/>
        </p:blipFill>
        <p:spPr>
          <a:xfrm>
            <a:off x="949975" y="2437225"/>
            <a:ext cx="688376" cy="1119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0" name="Google Shape;270;p36"/>
          <p:cNvCxnSpPr/>
          <p:nvPr/>
        </p:nvCxnSpPr>
        <p:spPr>
          <a:xfrm>
            <a:off x="1648125" y="3002525"/>
            <a:ext cx="1087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" name="Google Shape;271;p36"/>
          <p:cNvCxnSpPr/>
          <p:nvPr/>
        </p:nvCxnSpPr>
        <p:spPr>
          <a:xfrm rot="10800000" flipH="1">
            <a:off x="1653750" y="3749275"/>
            <a:ext cx="938400" cy="386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72" name="Google Shape;272;p36"/>
          <p:cNvPicPr preferRelativeResize="0"/>
          <p:nvPr/>
        </p:nvPicPr>
        <p:blipFill rotWithShape="1">
          <a:blip r:embed="rId5">
            <a:alphaModFix/>
          </a:blip>
          <a:srcRect l="1420"/>
          <a:stretch/>
        </p:blipFill>
        <p:spPr>
          <a:xfrm>
            <a:off x="2591850" y="2725124"/>
            <a:ext cx="3249375" cy="127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6"/>
          <p:cNvPicPr preferRelativeResize="0"/>
          <p:nvPr/>
        </p:nvPicPr>
        <p:blipFill rotWithShape="1">
          <a:blip r:embed="rId4">
            <a:alphaModFix/>
          </a:blip>
          <a:srcRect l="83907" r="2355"/>
          <a:stretch/>
        </p:blipFill>
        <p:spPr>
          <a:xfrm>
            <a:off x="5841224" y="2882625"/>
            <a:ext cx="613174" cy="11197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6"/>
          <p:cNvSpPr txBox="1"/>
          <p:nvPr/>
        </p:nvSpPr>
        <p:spPr>
          <a:xfrm>
            <a:off x="3669300" y="3109788"/>
            <a:ext cx="9027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</a:t>
            </a:r>
            <a:endParaRPr sz="2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7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Classical Computing:</a:t>
            </a:r>
            <a:r>
              <a:rPr lang="en"/>
              <a:t> AND &amp; OR</a:t>
            </a:r>
            <a:endParaRPr/>
          </a:p>
        </p:txBody>
      </p:sp>
      <p:sp>
        <p:nvSpPr>
          <p:cNvPr id="280" name="Google Shape;280;p37"/>
          <p:cNvSpPr txBox="1">
            <a:spLocks noGrp="1"/>
          </p:cNvSpPr>
          <p:nvPr>
            <p:ph type="body" idx="1"/>
          </p:nvPr>
        </p:nvSpPr>
        <p:spPr>
          <a:xfrm>
            <a:off x="322325" y="1090325"/>
            <a:ext cx="36945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 b="1"/>
              <a:t>AND</a:t>
            </a:r>
            <a:endParaRPr sz="1800" b="1"/>
          </a:p>
          <a:p>
            <a:pPr marL="0" lvl="0" indent="0" algn="ctr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Both conditions need to be true</a:t>
            </a:r>
            <a:endParaRPr sz="1800"/>
          </a:p>
        </p:txBody>
      </p:sp>
      <p:pic>
        <p:nvPicPr>
          <p:cNvPr id="281" name="Google Shape;28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71" y="1879250"/>
            <a:ext cx="3366129" cy="208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4475" y="2624450"/>
            <a:ext cx="4200357" cy="208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7"/>
          <p:cNvSpPr txBox="1">
            <a:spLocks noGrp="1"/>
          </p:cNvSpPr>
          <p:nvPr>
            <p:ph type="body" idx="1"/>
          </p:nvPr>
        </p:nvSpPr>
        <p:spPr>
          <a:xfrm>
            <a:off x="4947400" y="1835525"/>
            <a:ext cx="3883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 b="1"/>
              <a:t>OR</a:t>
            </a:r>
            <a:endParaRPr sz="1800" b="1"/>
          </a:p>
          <a:p>
            <a:pPr marL="0" lvl="0" indent="0" algn="ctr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Only 1 condition needs to be true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8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Classical Computing:</a:t>
            </a:r>
            <a:r>
              <a:rPr lang="en"/>
              <a:t> XOR &amp; NOT</a:t>
            </a:r>
            <a:endParaRPr/>
          </a:p>
        </p:txBody>
      </p:sp>
      <p:sp>
        <p:nvSpPr>
          <p:cNvPr id="289" name="Google Shape;289;p38"/>
          <p:cNvSpPr txBox="1">
            <a:spLocks noGrp="1"/>
          </p:cNvSpPr>
          <p:nvPr>
            <p:ph type="body" idx="1"/>
          </p:nvPr>
        </p:nvSpPr>
        <p:spPr>
          <a:xfrm>
            <a:off x="336550" y="1090325"/>
            <a:ext cx="3703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 b="1"/>
              <a:t>XOR</a:t>
            </a:r>
            <a:endParaRPr sz="1800" b="1"/>
          </a:p>
          <a:p>
            <a:pPr marL="0" lvl="0" indent="0" algn="ctr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1 condition must be true, 1 false</a:t>
            </a:r>
            <a:endParaRPr sz="1800"/>
          </a:p>
        </p:txBody>
      </p:sp>
      <p:sp>
        <p:nvSpPr>
          <p:cNvPr id="290" name="Google Shape;290;p38"/>
          <p:cNvSpPr txBox="1">
            <a:spLocks noGrp="1"/>
          </p:cNvSpPr>
          <p:nvPr>
            <p:ph type="body" idx="1"/>
          </p:nvPr>
        </p:nvSpPr>
        <p:spPr>
          <a:xfrm>
            <a:off x="4947400" y="1835525"/>
            <a:ext cx="3883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 b="1"/>
              <a:t>NOT</a:t>
            </a:r>
            <a:endParaRPr sz="1800" b="1"/>
          </a:p>
          <a:p>
            <a:pPr marL="0" lvl="0" indent="0" algn="ctr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Negates condition</a:t>
            </a:r>
            <a:endParaRPr sz="1800"/>
          </a:p>
        </p:txBody>
      </p:sp>
      <p:pic>
        <p:nvPicPr>
          <p:cNvPr id="291" name="Google Shape;29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425" y="1835525"/>
            <a:ext cx="4201586" cy="208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11" y="2733125"/>
            <a:ext cx="4267190" cy="1826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Classical Computing:</a:t>
            </a:r>
            <a:r>
              <a:rPr lang="en"/>
              <a:t> NAND</a:t>
            </a:r>
            <a:endParaRPr/>
          </a:p>
        </p:txBody>
      </p:sp>
      <p:sp>
        <p:nvSpPr>
          <p:cNvPr id="298" name="Google Shape;298;p39"/>
          <p:cNvSpPr txBox="1">
            <a:spLocks noGrp="1"/>
          </p:cNvSpPr>
          <p:nvPr>
            <p:ph type="body" idx="1"/>
          </p:nvPr>
        </p:nvSpPr>
        <p:spPr>
          <a:xfrm>
            <a:off x="1092600" y="1090325"/>
            <a:ext cx="6958800" cy="11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 b="1"/>
              <a:t>NAND</a:t>
            </a:r>
            <a:endParaRPr sz="1800" b="1"/>
          </a:p>
          <a:p>
            <a:pPr marL="0" lvl="0" indent="0" algn="ctr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True only if both conditions are false</a:t>
            </a:r>
            <a:endParaRPr sz="1800"/>
          </a:p>
          <a:p>
            <a:pPr marL="0" lvl="0" indent="0" algn="ctr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Given the light is on, how can you determine the inputs?</a:t>
            </a:r>
            <a:endParaRPr sz="1800"/>
          </a:p>
        </p:txBody>
      </p:sp>
      <p:pic>
        <p:nvPicPr>
          <p:cNvPr id="299" name="Google Shape;29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425" y="2325991"/>
            <a:ext cx="4201575" cy="2063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8860" y="2325999"/>
            <a:ext cx="3888532" cy="206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 Quantum Computing</a:t>
            </a:r>
            <a:endParaRPr/>
          </a:p>
        </p:txBody>
      </p:sp>
      <p:sp>
        <p:nvSpPr>
          <p:cNvPr id="306" name="Google Shape;306;p40"/>
          <p:cNvSpPr txBox="1">
            <a:spLocks noGrp="1"/>
          </p:cNvSpPr>
          <p:nvPr>
            <p:ph type="body" idx="1"/>
          </p:nvPr>
        </p:nvSpPr>
        <p:spPr>
          <a:xfrm>
            <a:off x="338700" y="994304"/>
            <a:ext cx="88053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Let’s look at how classical computing solves problems by looking at an example.</a:t>
            </a:r>
            <a:endParaRPr sz="1500"/>
          </a:p>
        </p:txBody>
      </p:sp>
      <p:pic>
        <p:nvPicPr>
          <p:cNvPr id="307" name="Google Shape;307;p40"/>
          <p:cNvPicPr preferRelativeResize="0"/>
          <p:nvPr/>
        </p:nvPicPr>
        <p:blipFill rotWithShape="1">
          <a:blip r:embed="rId3">
            <a:alphaModFix/>
          </a:blip>
          <a:srcRect l="1865" t="4003"/>
          <a:stretch/>
        </p:blipFill>
        <p:spPr>
          <a:xfrm>
            <a:off x="5012450" y="1558016"/>
            <a:ext cx="4131548" cy="252997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0"/>
          <p:cNvSpPr txBox="1">
            <a:spLocks noGrp="1"/>
          </p:cNvSpPr>
          <p:nvPr>
            <p:ph type="body" idx="1"/>
          </p:nvPr>
        </p:nvSpPr>
        <p:spPr>
          <a:xfrm>
            <a:off x="338700" y="1727325"/>
            <a:ext cx="4528500" cy="24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Let’s say the computer is a mouse, and the problem being solved is a maze</a:t>
            </a:r>
            <a:endParaRPr sz="1800"/>
          </a:p>
          <a:p>
            <a:pPr marL="1371600" lvl="1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Classical Computing → Tries to escape the maze one path at a time and updating map</a:t>
            </a:r>
            <a:endParaRPr sz="1500"/>
          </a:p>
          <a:p>
            <a:pPr marL="1371600" lvl="1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Quantum Computing → Considers all possible paths and explores the most probable ones first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Quantum Computing:</a:t>
            </a:r>
            <a:r>
              <a:rPr lang="en"/>
              <a:t> Qubits</a:t>
            </a:r>
            <a:endParaRPr/>
          </a:p>
        </p:txBody>
      </p:sp>
      <p:sp>
        <p:nvSpPr>
          <p:cNvPr id="314" name="Google Shape;314;p41"/>
          <p:cNvSpPr txBox="1">
            <a:spLocks noGrp="1"/>
          </p:cNvSpPr>
          <p:nvPr>
            <p:ph type="body" idx="1"/>
          </p:nvPr>
        </p:nvSpPr>
        <p:spPr>
          <a:xfrm>
            <a:off x="338711" y="980347"/>
            <a:ext cx="8805300" cy="3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Classical computing isn’t suitable for all types of problems</a:t>
            </a:r>
            <a:endParaRPr sz="1800"/>
          </a:p>
          <a:p>
            <a:pPr marL="914400" lvl="1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It clearly becomes impractical for problems with an exponential number of potential solutions</a:t>
            </a:r>
            <a:endParaRPr sz="15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9900FF"/>
                </a:solidFill>
              </a:rPr>
              <a:t>Qubits</a:t>
            </a:r>
            <a:endParaRPr b="1">
              <a:solidFill>
                <a:srgbClr val="9900FF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Qubits fill a similar role to bits, but it’s not as simple as two defined states</a:t>
            </a:r>
            <a:endParaRPr sz="1800"/>
          </a:p>
          <a:p>
            <a:pPr marL="914400" lvl="1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They can exist in a [linear] combination of two states (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|0&gt;</a:t>
            </a:r>
            <a:r>
              <a:rPr lang="en" sz="1500"/>
              <a:t> and 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|1&gt;</a:t>
            </a:r>
            <a:r>
              <a:rPr lang="en" sz="1500"/>
              <a:t>)</a:t>
            </a:r>
            <a:endParaRPr sz="1500"/>
          </a:p>
          <a:p>
            <a:pPr marL="914400" lvl="1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Char char="–"/>
            </a:pPr>
            <a:r>
              <a:rPr lang="en" sz="1500"/>
              <a:t>This is known as </a:t>
            </a:r>
            <a:r>
              <a:rPr lang="en" sz="1500" b="1"/>
              <a:t>superposition</a:t>
            </a:r>
            <a:endParaRPr sz="1500" b="1"/>
          </a:p>
          <a:p>
            <a:pPr marL="45720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However, qubit states rely on probabilities rather than certainty</a:t>
            </a:r>
            <a:endParaRPr sz="1800"/>
          </a:p>
          <a:p>
            <a:pPr marL="914400" lvl="1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After we observe a qubit’s state, we know the state it is in</a:t>
            </a:r>
            <a:endParaRPr sz="1500"/>
          </a:p>
          <a:p>
            <a:pPr marL="914400" lvl="1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" sz="1500"/>
              <a:t>When this happens, a qubit’s superposition collapses to the single state observed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2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Quantum Computing:</a:t>
            </a:r>
            <a:r>
              <a:rPr lang="en"/>
              <a:t> Qubits</a:t>
            </a:r>
            <a:endParaRPr/>
          </a:p>
        </p:txBody>
      </p:sp>
      <p:sp>
        <p:nvSpPr>
          <p:cNvPr id="320" name="Google Shape;320;p42"/>
          <p:cNvSpPr txBox="1">
            <a:spLocks noGrp="1"/>
          </p:cNvSpPr>
          <p:nvPr>
            <p:ph type="body" idx="1"/>
          </p:nvPr>
        </p:nvSpPr>
        <p:spPr>
          <a:xfrm>
            <a:off x="338700" y="1074749"/>
            <a:ext cx="4233300" cy="32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238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Traces back to 1801</a:t>
            </a:r>
            <a:endParaRPr sz="15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Light shines through a barrier with two slits, which act as waves</a:t>
            </a:r>
            <a:endParaRPr sz="1500"/>
          </a:p>
          <a:p>
            <a:pPr marL="9144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When measuring the light from within the barrier, there was clearly interference</a:t>
            </a:r>
            <a:endParaRPr sz="15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However, dim the light’s intensity until only one photon is traveling through the barrier at once. Interference was still found</a:t>
            </a:r>
            <a:endParaRPr sz="1800"/>
          </a:p>
        </p:txBody>
      </p:sp>
      <p:pic>
        <p:nvPicPr>
          <p:cNvPr id="321" name="Google Shape;321;p42" title="Electron_buildup_movie_from__Controlled_double-slit_electron_diffraction__Roger_Bach_et_al_2013_New_J._Phys._15_033018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3675" y="2803450"/>
            <a:ext cx="3810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2"/>
          <p:cNvSpPr txBox="1">
            <a:spLocks noGrp="1"/>
          </p:cNvSpPr>
          <p:nvPr>
            <p:ph type="body" idx="1"/>
          </p:nvPr>
        </p:nvSpPr>
        <p:spPr>
          <a:xfrm>
            <a:off x="322325" y="755175"/>
            <a:ext cx="8688900" cy="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Let’s demonstrate a classic example called the </a:t>
            </a:r>
            <a:r>
              <a:rPr lang="en" sz="1800" b="1"/>
              <a:t>Double-Slit Experiment</a:t>
            </a:r>
            <a:endParaRPr sz="1800"/>
          </a:p>
        </p:txBody>
      </p:sp>
      <p:sp>
        <p:nvSpPr>
          <p:cNvPr id="323" name="Google Shape;323;p42"/>
          <p:cNvSpPr txBox="1"/>
          <p:nvPr/>
        </p:nvSpPr>
        <p:spPr>
          <a:xfrm>
            <a:off x="4827675" y="1540213"/>
            <a:ext cx="37620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→ As a result, this experiment gave substantial evidence to the theory of superposition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3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Quantum Computing:</a:t>
            </a:r>
            <a:r>
              <a:rPr lang="en"/>
              <a:t> Qubits</a:t>
            </a:r>
            <a:endParaRPr/>
          </a:p>
        </p:txBody>
      </p:sp>
      <p:pic>
        <p:nvPicPr>
          <p:cNvPr id="329" name="Google Shape;329;p43" title="bits_vs_qubits_growth.png"/>
          <p:cNvPicPr preferRelativeResize="0"/>
          <p:nvPr/>
        </p:nvPicPr>
        <p:blipFill rotWithShape="1">
          <a:blip r:embed="rId3">
            <a:alphaModFix/>
          </a:blip>
          <a:srcRect t="11810" b="28148"/>
          <a:stretch/>
        </p:blipFill>
        <p:spPr>
          <a:xfrm>
            <a:off x="631900" y="917988"/>
            <a:ext cx="8262924" cy="330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Quantum Computing:</a:t>
            </a:r>
            <a:r>
              <a:rPr lang="en"/>
              <a:t> Bloch Sphere</a:t>
            </a:r>
            <a:endParaRPr/>
          </a:p>
        </p:txBody>
      </p:sp>
      <p:sp>
        <p:nvSpPr>
          <p:cNvPr id="335" name="Google Shape;335;p44"/>
          <p:cNvSpPr txBox="1">
            <a:spLocks noGrp="1"/>
          </p:cNvSpPr>
          <p:nvPr>
            <p:ph type="body" idx="1"/>
          </p:nvPr>
        </p:nvSpPr>
        <p:spPr>
          <a:xfrm>
            <a:off x="338711" y="980347"/>
            <a:ext cx="8805300" cy="3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Since qubits can exist at and between the states </a:t>
            </a: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|0&gt;</a:t>
            </a:r>
            <a:r>
              <a:rPr lang="en" sz="1800"/>
              <a:t> and </a:t>
            </a: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|1&gt;</a:t>
            </a:r>
            <a:r>
              <a:rPr lang="en" sz="1800"/>
              <a:t>, we need 3-dimensional way to represent a qubit’s state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/>
              <a:t>Bloch Sphere Simulator: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https://www.iqmacademy.com/play/bloch/</a:t>
            </a:r>
            <a:endParaRPr sz="1500"/>
          </a:p>
        </p:txBody>
      </p:sp>
      <p:pic>
        <p:nvPicPr>
          <p:cNvPr id="336" name="Google Shape;33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074" y="1571049"/>
            <a:ext cx="2890299" cy="2305749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4"/>
          <p:cNvSpPr txBox="1"/>
          <p:nvPr/>
        </p:nvSpPr>
        <p:spPr>
          <a:xfrm>
            <a:off x="3172575" y="1740000"/>
            <a:ext cx="5765100" cy="23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•"/>
            </a:pP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Bloch sphere is a geometric representation of a qubit’s superposition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1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entury Gothic"/>
              <a:buChar char="–"/>
            </a:pPr>
            <a:r>
              <a:rPr lang="en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qubit may be halfway between 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|0&gt;</a:t>
            </a:r>
            <a:r>
              <a:rPr lang="en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and 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|1&gt;</a:t>
            </a:r>
            <a:r>
              <a:rPr lang="en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but orientation matters!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1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entury Gothic"/>
              <a:buChar char="–"/>
            </a:pPr>
            <a:r>
              <a:rPr lang="en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Every point on the sphere’s surface is a valid superposition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1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entury Gothic"/>
              <a:buChar char="–"/>
            </a:pPr>
            <a:r>
              <a:rPr lang="en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Notice that we use 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|0&gt;</a:t>
            </a:r>
            <a:r>
              <a:rPr lang="en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and 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|1&gt;</a:t>
            </a:r>
            <a:r>
              <a:rPr lang="en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not 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and 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entury Gothic"/>
              <a:buChar char="–"/>
            </a:pPr>
            <a:r>
              <a:rPr lang="en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These are state vectors, specifically ket vectors (you’ve seen these before)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Quantum Gates:</a:t>
            </a:r>
            <a:r>
              <a:rPr lang="en"/>
              <a:t> What’s the Difference?</a:t>
            </a:r>
            <a:endParaRPr/>
          </a:p>
        </p:txBody>
      </p:sp>
      <p:sp>
        <p:nvSpPr>
          <p:cNvPr id="343" name="Google Shape;343;p45"/>
          <p:cNvSpPr txBox="1">
            <a:spLocks noGrp="1"/>
          </p:cNvSpPr>
          <p:nvPr>
            <p:ph type="body" idx="1"/>
          </p:nvPr>
        </p:nvSpPr>
        <p:spPr>
          <a:xfrm>
            <a:off x="338711" y="980347"/>
            <a:ext cx="8805300" cy="3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	All quantum gates have two properties:</a:t>
            </a: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All q-gate operations are </a:t>
            </a:r>
            <a:r>
              <a:rPr lang="en" sz="1800" b="1"/>
              <a:t>reversible</a:t>
            </a:r>
            <a:endParaRPr sz="1800" b="1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Enable </a:t>
            </a:r>
            <a:r>
              <a:rPr lang="en" sz="1800" b="1"/>
              <a:t>parallel computation</a:t>
            </a:r>
            <a:r>
              <a:rPr lang="en" sz="1800"/>
              <a:t> (through manipulating superpositions)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Classical computers can </a:t>
            </a:r>
            <a:r>
              <a:rPr lang="en" sz="1800" i="1"/>
              <a:t>theoretically</a:t>
            </a:r>
            <a:r>
              <a:rPr lang="en" sz="1800"/>
              <a:t> run reversibly, but it’s disadvantageous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6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Quantum Gates:</a:t>
            </a:r>
            <a:r>
              <a:rPr lang="en"/>
              <a:t> The X &amp; Hadamard Gates</a:t>
            </a:r>
            <a:endParaRPr/>
          </a:p>
        </p:txBody>
      </p:sp>
      <p:sp>
        <p:nvSpPr>
          <p:cNvPr id="349" name="Google Shape;349;p46"/>
          <p:cNvSpPr txBox="1">
            <a:spLocks noGrp="1"/>
          </p:cNvSpPr>
          <p:nvPr>
            <p:ph type="body" idx="1"/>
          </p:nvPr>
        </p:nvSpPr>
        <p:spPr>
          <a:xfrm>
            <a:off x="338700" y="980350"/>
            <a:ext cx="4233300" cy="3702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	</a:t>
            </a:r>
            <a:r>
              <a:rPr lang="en" sz="1800" b="1"/>
              <a:t>X Gate</a:t>
            </a:r>
            <a:endParaRPr sz="1800" b="1"/>
          </a:p>
          <a:p>
            <a:pPr marL="457200" lvl="0" indent="-3238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Negates the current state</a:t>
            </a:r>
            <a:endParaRPr sz="15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 i="1" u="sng"/>
              <a:t>Bloch Sphere:</a:t>
            </a:r>
            <a:r>
              <a:rPr lang="en" sz="1500"/>
              <a:t> 180° across </a:t>
            </a:r>
            <a:r>
              <a:rPr lang="en" sz="1500">
                <a:solidFill>
                  <a:srgbClr val="FF0000"/>
                </a:solidFill>
              </a:rPr>
              <a:t>x-axis</a:t>
            </a:r>
            <a:endParaRPr sz="15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u="sng"/>
              <a:t>Ex:</a:t>
            </a:r>
            <a:r>
              <a:rPr lang="en" sz="1500"/>
              <a:t> 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|0&gt;</a:t>
            </a:r>
            <a:r>
              <a:rPr lang="en" sz="1500"/>
              <a:t> → </a:t>
            </a:r>
            <a:r>
              <a:rPr lang="en" sz="1500" b="1"/>
              <a:t>X</a:t>
            </a:r>
            <a:r>
              <a:rPr lang="en" sz="1500"/>
              <a:t> → 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|1&gt;</a:t>
            </a:r>
            <a:endParaRPr sz="1500">
              <a:highlight>
                <a:schemeClr val="accent4"/>
              </a:highlight>
            </a:endParaRPr>
          </a:p>
        </p:txBody>
      </p:sp>
      <p:sp>
        <p:nvSpPr>
          <p:cNvPr id="350" name="Google Shape;350;p46"/>
          <p:cNvSpPr txBox="1">
            <a:spLocks noGrp="1"/>
          </p:cNvSpPr>
          <p:nvPr>
            <p:ph type="body" idx="1"/>
          </p:nvPr>
        </p:nvSpPr>
        <p:spPr>
          <a:xfrm>
            <a:off x="4787050" y="980350"/>
            <a:ext cx="4233300" cy="3702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	</a:t>
            </a:r>
            <a:r>
              <a:rPr lang="en" sz="1800" b="1"/>
              <a:t>H Gate</a:t>
            </a:r>
            <a:endParaRPr sz="1800" b="1"/>
          </a:p>
          <a:p>
            <a:pPr marL="457200" lvl="0" indent="-323850" algn="l" rtl="0">
              <a:spcBef>
                <a:spcPts val="11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Assigns an equal superposition of 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|0&gt;</a:t>
            </a:r>
            <a:r>
              <a:rPr lang="en" sz="1500"/>
              <a:t> and 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|1&gt;</a:t>
            </a:r>
            <a:endParaRPr sz="1500"/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 i="1" u="sng"/>
              <a:t>Bloch Sphere:</a:t>
            </a:r>
            <a:r>
              <a:rPr lang="en" sz="1500"/>
              <a:t> 90° across </a:t>
            </a:r>
            <a:r>
              <a:rPr lang="en" sz="1500">
                <a:solidFill>
                  <a:srgbClr val="6AA84F"/>
                </a:solidFill>
              </a:rPr>
              <a:t>y-axis</a:t>
            </a:r>
            <a:endParaRPr sz="1500">
              <a:solidFill>
                <a:srgbClr val="6AA84F"/>
              </a:solidFill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 +</a:t>
            </a:r>
            <a:endParaRPr sz="1500"/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     180° across </a:t>
            </a:r>
            <a:r>
              <a:rPr lang="en" sz="1500">
                <a:solidFill>
                  <a:srgbClr val="FF0000"/>
                </a:solidFill>
              </a:rPr>
              <a:t>x-axis</a:t>
            </a:r>
            <a:endParaRPr sz="15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u="sng"/>
              <a:t>Ex:</a:t>
            </a:r>
            <a:r>
              <a:rPr lang="en" sz="1500"/>
              <a:t> 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|0&gt;</a:t>
            </a:r>
            <a:r>
              <a:rPr lang="en" sz="1500"/>
              <a:t> → </a:t>
            </a:r>
            <a:r>
              <a:rPr lang="en" sz="1500" b="1"/>
              <a:t>H</a:t>
            </a:r>
            <a:r>
              <a:rPr lang="en" sz="1500"/>
              <a:t> → 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|+&gt;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51" name="Google Shape;35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782" y="2970651"/>
            <a:ext cx="2106161" cy="16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6"/>
          <p:cNvSpPr txBox="1"/>
          <p:nvPr/>
        </p:nvSpPr>
        <p:spPr>
          <a:xfrm rot="10800000">
            <a:off x="1626132" y="3093363"/>
            <a:ext cx="4491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↻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353" name="Google Shape;353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7458" y="2970650"/>
            <a:ext cx="1896431" cy="1680197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6"/>
          <p:cNvSpPr/>
          <p:nvPr/>
        </p:nvSpPr>
        <p:spPr>
          <a:xfrm>
            <a:off x="2308897" y="3452284"/>
            <a:ext cx="286500" cy="324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entury Gothic"/>
                <a:ea typeface="Century Gothic"/>
                <a:cs typeface="Century Gothic"/>
                <a:sym typeface="Century Gothic"/>
              </a:rPr>
              <a:t>X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55" name="Google Shape;355;p46"/>
          <p:cNvCxnSpPr/>
          <p:nvPr/>
        </p:nvCxnSpPr>
        <p:spPr>
          <a:xfrm rot="10800000" flipH="1">
            <a:off x="2196400" y="3867002"/>
            <a:ext cx="544200" cy="1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56" name="Google Shape;35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2170" y="3093375"/>
            <a:ext cx="1952325" cy="155747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6"/>
          <p:cNvSpPr txBox="1"/>
          <p:nvPr/>
        </p:nvSpPr>
        <p:spPr>
          <a:xfrm rot="10800000">
            <a:off x="6182632" y="3271650"/>
            <a:ext cx="4491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↻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358" name="Google Shape;358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82358" y="3108225"/>
            <a:ext cx="1884450" cy="1541534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6"/>
          <p:cNvSpPr/>
          <p:nvPr/>
        </p:nvSpPr>
        <p:spPr>
          <a:xfrm>
            <a:off x="6811735" y="3575009"/>
            <a:ext cx="286500" cy="324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entury Gothic"/>
                <a:ea typeface="Century Gothic"/>
                <a:cs typeface="Century Gothic"/>
                <a:sym typeface="Century Gothic"/>
              </a:rPr>
              <a:t>H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60" name="Google Shape;360;p46"/>
          <p:cNvCxnSpPr/>
          <p:nvPr/>
        </p:nvCxnSpPr>
        <p:spPr>
          <a:xfrm rot="10800000" flipH="1">
            <a:off x="6699238" y="3989727"/>
            <a:ext cx="544200" cy="1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1" name="Google Shape;361;p46"/>
          <p:cNvSpPr txBox="1"/>
          <p:nvPr/>
        </p:nvSpPr>
        <p:spPr>
          <a:xfrm rot="-5400000">
            <a:off x="6009607" y="3037800"/>
            <a:ext cx="4491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AA84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↻</a:t>
            </a:r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937" y="2970651"/>
            <a:ext cx="2106161" cy="168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1160" y="2970650"/>
            <a:ext cx="1896431" cy="1680197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7"/>
          <p:cNvSpPr txBox="1">
            <a:spLocks noGrp="1"/>
          </p:cNvSpPr>
          <p:nvPr>
            <p:ph type="body" idx="1"/>
          </p:nvPr>
        </p:nvSpPr>
        <p:spPr>
          <a:xfrm>
            <a:off x="770675" y="980350"/>
            <a:ext cx="4058100" cy="22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	</a:t>
            </a:r>
            <a:r>
              <a:rPr lang="en" sz="1800" b="1"/>
              <a:t>H Gate</a:t>
            </a:r>
            <a:endParaRPr sz="1500"/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 i="1" u="sng"/>
              <a:t>Special Property:</a:t>
            </a:r>
            <a:r>
              <a:rPr lang="en" sz="1500"/>
              <a:t> After 2 H-gates, …</a:t>
            </a:r>
            <a:endParaRPr sz="1500"/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 i="1" u="sng"/>
              <a:t>Bloch Sphere:</a:t>
            </a:r>
            <a:r>
              <a:rPr lang="en" sz="1500"/>
              <a:t> 90° across </a:t>
            </a:r>
            <a:r>
              <a:rPr lang="en" sz="1500">
                <a:solidFill>
                  <a:srgbClr val="6AA84F"/>
                </a:solidFill>
              </a:rPr>
              <a:t>y-axis</a:t>
            </a:r>
            <a:endParaRPr sz="1500">
              <a:solidFill>
                <a:srgbClr val="6AA84F"/>
              </a:solidFill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 +</a:t>
            </a:r>
            <a:endParaRPr sz="1500"/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     180° across </a:t>
            </a:r>
            <a:r>
              <a:rPr lang="en" sz="1500">
                <a:solidFill>
                  <a:srgbClr val="FF0000"/>
                </a:solidFill>
              </a:rPr>
              <a:t>x-axis</a:t>
            </a:r>
            <a:endParaRPr sz="1800"/>
          </a:p>
        </p:txBody>
      </p:sp>
      <p:sp>
        <p:nvSpPr>
          <p:cNvPr id="369" name="Google Shape;369;p47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Quantum Gates:</a:t>
            </a:r>
            <a:r>
              <a:rPr lang="en"/>
              <a:t> The X &amp; Hadamard Gates</a:t>
            </a:r>
            <a:endParaRPr/>
          </a:p>
        </p:txBody>
      </p:sp>
      <p:sp>
        <p:nvSpPr>
          <p:cNvPr id="370" name="Google Shape;370;p47"/>
          <p:cNvSpPr/>
          <p:nvPr/>
        </p:nvSpPr>
        <p:spPr>
          <a:xfrm>
            <a:off x="2647790" y="3575009"/>
            <a:ext cx="286500" cy="324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entury Gothic"/>
                <a:ea typeface="Century Gothic"/>
                <a:cs typeface="Century Gothic"/>
                <a:sym typeface="Century Gothic"/>
              </a:rPr>
              <a:t>H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71" name="Google Shape;371;p47"/>
          <p:cNvCxnSpPr/>
          <p:nvPr/>
        </p:nvCxnSpPr>
        <p:spPr>
          <a:xfrm rot="10800000" flipH="1">
            <a:off x="2535293" y="3989727"/>
            <a:ext cx="544200" cy="1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2" name="Google Shape;372;p47"/>
          <p:cNvCxnSpPr/>
          <p:nvPr/>
        </p:nvCxnSpPr>
        <p:spPr>
          <a:xfrm rot="10800000" flipH="1">
            <a:off x="4292518" y="1529414"/>
            <a:ext cx="544200" cy="1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73" name="Google Shape;37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7887" y="2970651"/>
            <a:ext cx="2106161" cy="16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7"/>
          <p:cNvSpPr/>
          <p:nvPr/>
        </p:nvSpPr>
        <p:spPr>
          <a:xfrm>
            <a:off x="4944268" y="3575009"/>
            <a:ext cx="286500" cy="324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entury Gothic"/>
                <a:ea typeface="Century Gothic"/>
                <a:cs typeface="Century Gothic"/>
                <a:sym typeface="Century Gothic"/>
              </a:rPr>
              <a:t>H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75" name="Google Shape;375;p47"/>
          <p:cNvCxnSpPr/>
          <p:nvPr/>
        </p:nvCxnSpPr>
        <p:spPr>
          <a:xfrm rot="10800000" flipH="1">
            <a:off x="4831770" y="3989727"/>
            <a:ext cx="544200" cy="1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6" name="Google Shape;376;p47"/>
          <p:cNvSpPr txBox="1">
            <a:spLocks noGrp="1"/>
          </p:cNvSpPr>
          <p:nvPr>
            <p:ph type="body" idx="1"/>
          </p:nvPr>
        </p:nvSpPr>
        <p:spPr>
          <a:xfrm>
            <a:off x="4836725" y="1414050"/>
            <a:ext cx="40581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/>
              <a:t>Resets to initial value</a:t>
            </a:r>
            <a:endParaRPr sz="1500"/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/>
              <a:t>This happens for an even # of H-gates.</a:t>
            </a:r>
            <a:endParaRPr sz="1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8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Quantum Gates:</a:t>
            </a:r>
            <a:r>
              <a:rPr lang="en"/>
              <a:t> The X &amp; Hadamard Gates</a:t>
            </a:r>
            <a:endParaRPr/>
          </a:p>
        </p:txBody>
      </p:sp>
      <p:pic>
        <p:nvPicPr>
          <p:cNvPr id="382" name="Google Shape;382;p48" title="bloch_sphere_rotation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1022106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9"/>
          <p:cNvSpPr txBox="1">
            <a:spLocks noGrp="1"/>
          </p:cNvSpPr>
          <p:nvPr>
            <p:ph type="body" idx="1"/>
          </p:nvPr>
        </p:nvSpPr>
        <p:spPr>
          <a:xfrm>
            <a:off x="338700" y="1340400"/>
            <a:ext cx="4233300" cy="3342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	</a:t>
            </a:r>
            <a:r>
              <a:rPr lang="en" sz="1800" b="1"/>
              <a:t>Y Gate</a:t>
            </a:r>
            <a:endParaRPr sz="1800" b="1"/>
          </a:p>
          <a:p>
            <a:pPr marL="457200" lvl="0" indent="-3238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Negates the current state like X gate</a:t>
            </a:r>
            <a:endParaRPr sz="15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 i="1" u="sng"/>
              <a:t>Bloch Sphere:</a:t>
            </a:r>
            <a:r>
              <a:rPr lang="en" sz="1500"/>
              <a:t> 180° across </a:t>
            </a:r>
            <a:r>
              <a:rPr lang="en" sz="1500">
                <a:solidFill>
                  <a:srgbClr val="6AA84F"/>
                </a:solidFill>
              </a:rPr>
              <a:t>y-axis</a:t>
            </a:r>
            <a:endParaRPr sz="15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u="sng"/>
              <a:t>Ex:</a:t>
            </a:r>
            <a:r>
              <a:rPr lang="en" sz="1500"/>
              <a:t> 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|0&gt;</a:t>
            </a:r>
            <a:r>
              <a:rPr lang="en" sz="1500"/>
              <a:t> → </a:t>
            </a:r>
            <a:r>
              <a:rPr lang="en" sz="1500" b="1"/>
              <a:t>Y</a:t>
            </a:r>
            <a:r>
              <a:rPr lang="en" sz="1500"/>
              <a:t> → 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|1&gt;</a:t>
            </a:r>
            <a:endParaRPr sz="1500">
              <a:highlight>
                <a:schemeClr val="accent4"/>
              </a:highlight>
            </a:endParaRPr>
          </a:p>
        </p:txBody>
      </p:sp>
      <p:sp>
        <p:nvSpPr>
          <p:cNvPr id="388" name="Google Shape;388;p49"/>
          <p:cNvSpPr txBox="1">
            <a:spLocks noGrp="1"/>
          </p:cNvSpPr>
          <p:nvPr>
            <p:ph type="body" idx="1"/>
          </p:nvPr>
        </p:nvSpPr>
        <p:spPr>
          <a:xfrm>
            <a:off x="4692300" y="1340350"/>
            <a:ext cx="4328100" cy="3342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	</a:t>
            </a:r>
            <a:r>
              <a:rPr lang="en" sz="1800" b="1"/>
              <a:t>Z Gate</a:t>
            </a:r>
            <a:endParaRPr sz="1800" b="1"/>
          </a:p>
          <a:p>
            <a:pPr marL="457200" lvl="0" indent="-323850" algn="l" rtl="0">
              <a:spcBef>
                <a:spcPts val="11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Keeps the same state but negates the phase</a:t>
            </a:r>
            <a:endParaRPr sz="1500"/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 i="1" u="sng"/>
              <a:t>Bloch Sphere:</a:t>
            </a:r>
            <a:r>
              <a:rPr lang="en" sz="1500"/>
              <a:t> 180° across </a:t>
            </a:r>
            <a:r>
              <a:rPr lang="en" sz="1500">
                <a:solidFill>
                  <a:srgbClr val="3C78D8"/>
                </a:solidFill>
              </a:rPr>
              <a:t>z-axis</a:t>
            </a:r>
            <a:endParaRPr sz="1500">
              <a:solidFill>
                <a:srgbClr val="3C78D8"/>
              </a:solidFill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u="sng"/>
              <a:t>Ex:</a:t>
            </a:r>
            <a:r>
              <a:rPr lang="en" sz="1500"/>
              <a:t> 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|0&gt;</a:t>
            </a:r>
            <a:r>
              <a:rPr lang="en" sz="1500"/>
              <a:t> → </a:t>
            </a:r>
            <a:r>
              <a:rPr lang="en" sz="1500" b="1"/>
              <a:t>Z</a:t>
            </a:r>
            <a:r>
              <a:rPr lang="en" sz="1500"/>
              <a:t> → 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|0&gt;</a:t>
            </a:r>
            <a:endParaRPr sz="1800"/>
          </a:p>
        </p:txBody>
      </p:sp>
      <p:pic>
        <p:nvPicPr>
          <p:cNvPr id="389" name="Google Shape;38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2527" y="2970651"/>
            <a:ext cx="2106161" cy="168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5435" y="2970650"/>
            <a:ext cx="1896431" cy="1680197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9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Quantum Gates:</a:t>
            </a:r>
            <a:r>
              <a:rPr lang="en"/>
              <a:t> Pauli Gates</a:t>
            </a:r>
            <a:endParaRPr/>
          </a:p>
        </p:txBody>
      </p:sp>
      <p:sp>
        <p:nvSpPr>
          <p:cNvPr id="392" name="Google Shape;392;p49"/>
          <p:cNvSpPr txBox="1">
            <a:spLocks noGrp="1"/>
          </p:cNvSpPr>
          <p:nvPr>
            <p:ph type="body" idx="1"/>
          </p:nvPr>
        </p:nvSpPr>
        <p:spPr>
          <a:xfrm>
            <a:off x="338700" y="980347"/>
            <a:ext cx="88053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Pauli Gates: Gates that rotate 180° across an axis</a:t>
            </a:r>
            <a:endParaRPr sz="1800"/>
          </a:p>
        </p:txBody>
      </p:sp>
      <p:pic>
        <p:nvPicPr>
          <p:cNvPr id="393" name="Google Shape;39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052" y="2970651"/>
            <a:ext cx="2106161" cy="16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9"/>
          <p:cNvSpPr txBox="1"/>
          <p:nvPr/>
        </p:nvSpPr>
        <p:spPr>
          <a:xfrm>
            <a:off x="6186701" y="2970655"/>
            <a:ext cx="4491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C78D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↻</a:t>
            </a:r>
            <a:endParaRPr>
              <a:solidFill>
                <a:srgbClr val="3C78D8"/>
              </a:solidFill>
            </a:endParaRPr>
          </a:p>
        </p:txBody>
      </p:sp>
      <p:sp>
        <p:nvSpPr>
          <p:cNvPr id="395" name="Google Shape;395;p49"/>
          <p:cNvSpPr/>
          <p:nvPr/>
        </p:nvSpPr>
        <p:spPr>
          <a:xfrm>
            <a:off x="2315605" y="3452284"/>
            <a:ext cx="286500" cy="324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entury Gothic"/>
                <a:ea typeface="Century Gothic"/>
                <a:cs typeface="Century Gothic"/>
                <a:sym typeface="Century Gothic"/>
              </a:rPr>
              <a:t>Y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96" name="Google Shape;396;p49"/>
          <p:cNvCxnSpPr/>
          <p:nvPr/>
        </p:nvCxnSpPr>
        <p:spPr>
          <a:xfrm rot="10800000" flipH="1">
            <a:off x="2203108" y="3867002"/>
            <a:ext cx="544200" cy="1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7" name="Google Shape;397;p49"/>
          <p:cNvSpPr txBox="1"/>
          <p:nvPr/>
        </p:nvSpPr>
        <p:spPr>
          <a:xfrm rot="-5400000">
            <a:off x="1833471" y="3037800"/>
            <a:ext cx="449100" cy="4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AA84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↻</a:t>
            </a:r>
            <a:endParaRPr>
              <a:solidFill>
                <a:srgbClr val="6AA84F"/>
              </a:solidFill>
            </a:endParaRPr>
          </a:p>
        </p:txBody>
      </p:sp>
      <p:pic>
        <p:nvPicPr>
          <p:cNvPr id="398" name="Google Shape;39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5317" y="2970651"/>
            <a:ext cx="2106161" cy="1680199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9"/>
          <p:cNvSpPr/>
          <p:nvPr/>
        </p:nvSpPr>
        <p:spPr>
          <a:xfrm>
            <a:off x="6675080" y="3452284"/>
            <a:ext cx="286500" cy="324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entury Gothic"/>
                <a:ea typeface="Century Gothic"/>
                <a:cs typeface="Century Gothic"/>
                <a:sym typeface="Century Gothic"/>
              </a:rPr>
              <a:t>Z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00" name="Google Shape;400;p49"/>
          <p:cNvCxnSpPr/>
          <p:nvPr/>
        </p:nvCxnSpPr>
        <p:spPr>
          <a:xfrm rot="10800000" flipH="1">
            <a:off x="6562583" y="3867002"/>
            <a:ext cx="544200" cy="1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0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Quantum Gates:</a:t>
            </a:r>
            <a:r>
              <a:rPr lang="en"/>
              <a:t> Phase Gates</a:t>
            </a:r>
            <a:endParaRPr/>
          </a:p>
        </p:txBody>
      </p:sp>
      <p:sp>
        <p:nvSpPr>
          <p:cNvPr id="406" name="Google Shape;406;p50"/>
          <p:cNvSpPr txBox="1">
            <a:spLocks noGrp="1"/>
          </p:cNvSpPr>
          <p:nvPr>
            <p:ph type="body" idx="1"/>
          </p:nvPr>
        </p:nvSpPr>
        <p:spPr>
          <a:xfrm>
            <a:off x="338700" y="1340400"/>
            <a:ext cx="4233300" cy="3342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	</a:t>
            </a:r>
            <a:r>
              <a:rPr lang="en" sz="1800" b="1"/>
              <a:t>T Gate</a:t>
            </a:r>
            <a:endParaRPr sz="1800" b="1"/>
          </a:p>
          <a:p>
            <a:pPr marL="457200" lvl="0" indent="-3238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1/4 x Z-gate</a:t>
            </a:r>
            <a:endParaRPr sz="15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 i="1" u="sng"/>
              <a:t>Bloch Sphere:</a:t>
            </a:r>
            <a:r>
              <a:rPr lang="en" sz="1500"/>
              <a:t> 45° across </a:t>
            </a:r>
            <a:r>
              <a:rPr lang="en" sz="1500">
                <a:solidFill>
                  <a:srgbClr val="3C78D8"/>
                </a:solidFill>
              </a:rPr>
              <a:t>z-axis</a:t>
            </a:r>
            <a:endParaRPr sz="1500">
              <a:highlight>
                <a:schemeClr val="accent4"/>
              </a:highlight>
            </a:endParaRPr>
          </a:p>
        </p:txBody>
      </p:sp>
      <p:sp>
        <p:nvSpPr>
          <p:cNvPr id="407" name="Google Shape;407;p50"/>
          <p:cNvSpPr txBox="1">
            <a:spLocks noGrp="1"/>
          </p:cNvSpPr>
          <p:nvPr>
            <p:ph type="body" idx="1"/>
          </p:nvPr>
        </p:nvSpPr>
        <p:spPr>
          <a:xfrm>
            <a:off x="4787050" y="1340350"/>
            <a:ext cx="4233300" cy="3342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	</a:t>
            </a:r>
            <a:r>
              <a:rPr lang="en" sz="1800" b="1"/>
              <a:t>S Gate</a:t>
            </a:r>
            <a:endParaRPr sz="1800" b="1"/>
          </a:p>
          <a:p>
            <a:pPr marL="457200" lvl="0" indent="-323850" algn="l" rtl="0">
              <a:spcBef>
                <a:spcPts val="11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1/2 x Z-gate</a:t>
            </a:r>
            <a:endParaRPr sz="1500"/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 i="1" u="sng"/>
              <a:t>Bloch Sphere:</a:t>
            </a:r>
            <a:r>
              <a:rPr lang="en" sz="1500"/>
              <a:t> 90° across </a:t>
            </a:r>
            <a:r>
              <a:rPr lang="en" sz="1500">
                <a:solidFill>
                  <a:srgbClr val="3C78D8"/>
                </a:solidFill>
              </a:rPr>
              <a:t>z-axis</a:t>
            </a:r>
            <a:endParaRPr sz="1800"/>
          </a:p>
        </p:txBody>
      </p:sp>
      <p:sp>
        <p:nvSpPr>
          <p:cNvPr id="408" name="Google Shape;408;p50"/>
          <p:cNvSpPr txBox="1">
            <a:spLocks noGrp="1"/>
          </p:cNvSpPr>
          <p:nvPr>
            <p:ph type="body" idx="1"/>
          </p:nvPr>
        </p:nvSpPr>
        <p:spPr>
          <a:xfrm>
            <a:off x="338700" y="980347"/>
            <a:ext cx="88053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Phase Gates: Smaller rotations across the z-axis</a:t>
            </a:r>
            <a:endParaRPr sz="1800"/>
          </a:p>
        </p:txBody>
      </p:sp>
      <p:pic>
        <p:nvPicPr>
          <p:cNvPr id="409" name="Google Shape;40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2020" y="2970650"/>
            <a:ext cx="1950761" cy="1680201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50"/>
          <p:cNvSpPr/>
          <p:nvPr/>
        </p:nvSpPr>
        <p:spPr>
          <a:xfrm>
            <a:off x="2349144" y="3452284"/>
            <a:ext cx="286500" cy="324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entury Gothic"/>
                <a:ea typeface="Century Gothic"/>
                <a:cs typeface="Century Gothic"/>
                <a:sym typeface="Century Gothic"/>
              </a:rPr>
              <a:t>T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11" name="Google Shape;411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713" y="2970650"/>
            <a:ext cx="1871250" cy="16802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2" name="Google Shape;412;p50"/>
          <p:cNvCxnSpPr/>
          <p:nvPr/>
        </p:nvCxnSpPr>
        <p:spPr>
          <a:xfrm rot="10800000" flipH="1">
            <a:off x="2236646" y="3867002"/>
            <a:ext cx="544200" cy="1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413" name="Google Shape;41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0971" y="2970650"/>
            <a:ext cx="1871250" cy="1680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7701" y="2970650"/>
            <a:ext cx="1937109" cy="16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50"/>
          <p:cNvSpPr/>
          <p:nvPr/>
        </p:nvSpPr>
        <p:spPr>
          <a:xfrm>
            <a:off x="6701911" y="3452284"/>
            <a:ext cx="286500" cy="3240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16" name="Google Shape;416;p50"/>
          <p:cNvCxnSpPr/>
          <p:nvPr/>
        </p:nvCxnSpPr>
        <p:spPr>
          <a:xfrm rot="10800000" flipH="1">
            <a:off x="6589414" y="3867002"/>
            <a:ext cx="544200" cy="1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1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Quantum Circuits:</a:t>
            </a:r>
            <a:r>
              <a:rPr lang="en"/>
              <a:t> CNOT</a:t>
            </a:r>
            <a:endParaRPr/>
          </a:p>
        </p:txBody>
      </p:sp>
      <p:sp>
        <p:nvSpPr>
          <p:cNvPr id="422" name="Google Shape;422;p51"/>
          <p:cNvSpPr txBox="1">
            <a:spLocks noGrp="1"/>
          </p:cNvSpPr>
          <p:nvPr>
            <p:ph type="body" idx="1"/>
          </p:nvPr>
        </p:nvSpPr>
        <p:spPr>
          <a:xfrm>
            <a:off x="338700" y="980348"/>
            <a:ext cx="8805300" cy="16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	How do we handle multi-qubit gates in quantum?</a:t>
            </a: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Recall the NAND gate. The problem is that NAND has too many possible options to determine the inputs for every output.</a:t>
            </a: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To fix this concern, we use a controlled operation (CNOT)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→ CNOTs are one way to entangle qubits</a:t>
            </a:r>
            <a:endParaRPr sz="1800"/>
          </a:p>
        </p:txBody>
      </p:sp>
      <p:pic>
        <p:nvPicPr>
          <p:cNvPr id="423" name="Google Shape;423;p51"/>
          <p:cNvPicPr preferRelativeResize="0"/>
          <p:nvPr/>
        </p:nvPicPr>
        <p:blipFill rotWithShape="1">
          <a:blip r:embed="rId3">
            <a:alphaModFix/>
          </a:blip>
          <a:srcRect t="37410"/>
          <a:stretch/>
        </p:blipFill>
        <p:spPr>
          <a:xfrm>
            <a:off x="738150" y="3017175"/>
            <a:ext cx="3501576" cy="166547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51"/>
          <p:cNvSpPr txBox="1"/>
          <p:nvPr/>
        </p:nvSpPr>
        <p:spPr>
          <a:xfrm>
            <a:off x="2043138" y="2574840"/>
            <a:ext cx="89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CNOT</a:t>
            </a:r>
            <a:endParaRPr sz="18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5" name="Google Shape;425;p51"/>
          <p:cNvSpPr txBox="1"/>
          <p:nvPr/>
        </p:nvSpPr>
        <p:spPr>
          <a:xfrm>
            <a:off x="5787363" y="2574850"/>
            <a:ext cx="1815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Uniform CNOT</a:t>
            </a:r>
            <a:endParaRPr sz="18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26" name="Google Shape;42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1125" y="3039550"/>
            <a:ext cx="3468109" cy="166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2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Quantum Circuits:</a:t>
            </a:r>
            <a:r>
              <a:rPr lang="en"/>
              <a:t> Entanglement</a:t>
            </a:r>
            <a:endParaRPr/>
          </a:p>
        </p:txBody>
      </p:sp>
      <p:sp>
        <p:nvSpPr>
          <p:cNvPr id="432" name="Google Shape;432;p52"/>
          <p:cNvSpPr txBox="1">
            <a:spLocks noGrp="1"/>
          </p:cNvSpPr>
          <p:nvPr>
            <p:ph type="body" idx="1"/>
          </p:nvPr>
        </p:nvSpPr>
        <p:spPr>
          <a:xfrm>
            <a:off x="338711" y="980347"/>
            <a:ext cx="8805300" cy="3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Measuring one entangled qubit immediately exposes information correlated to the other entangled qubit(s)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Remember superposition from earlier?</a:t>
            </a: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If we observe a qubit, the superposition collapses … and so does any entanglement with that qubit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3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Why Gates Matter</a:t>
            </a:r>
            <a:endParaRPr b="1"/>
          </a:p>
        </p:txBody>
      </p:sp>
      <p:sp>
        <p:nvSpPr>
          <p:cNvPr id="438" name="Google Shape;438;p53"/>
          <p:cNvSpPr txBox="1">
            <a:spLocks noGrp="1"/>
          </p:cNvSpPr>
          <p:nvPr>
            <p:ph type="body" idx="1"/>
          </p:nvPr>
        </p:nvSpPr>
        <p:spPr>
          <a:xfrm>
            <a:off x="338700" y="980348"/>
            <a:ext cx="8805300" cy="11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/>
              <a:t>Universality</a:t>
            </a:r>
            <a:endParaRPr sz="1800" b="1"/>
          </a:p>
          <a:p>
            <a:pPr marL="457200" lvl="0" indent="-342900" algn="l" rtl="0">
              <a:spcBef>
                <a:spcPts val="11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Some sets of gates are considered universal sets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In other words, they can form combinations to form all other gates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Note that since quantum gates are reversible, they save more informa	tion</a:t>
            </a:r>
            <a:endParaRPr sz="1800"/>
          </a:p>
        </p:txBody>
      </p:sp>
      <p:sp>
        <p:nvSpPr>
          <p:cNvPr id="439" name="Google Shape;439;p53"/>
          <p:cNvSpPr txBox="1">
            <a:spLocks noGrp="1"/>
          </p:cNvSpPr>
          <p:nvPr>
            <p:ph type="body" idx="1"/>
          </p:nvPr>
        </p:nvSpPr>
        <p:spPr>
          <a:xfrm>
            <a:off x="491100" y="2489350"/>
            <a:ext cx="3684300" cy="786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 b="1"/>
              <a:t>Classical Example</a:t>
            </a:r>
            <a:endParaRPr sz="1800" b="1"/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{OR, AND, NOT}</a:t>
            </a:r>
            <a:endParaRPr sz="1800"/>
          </a:p>
        </p:txBody>
      </p:sp>
      <p:sp>
        <p:nvSpPr>
          <p:cNvPr id="440" name="Google Shape;440;p53"/>
          <p:cNvSpPr txBox="1">
            <a:spLocks noGrp="1"/>
          </p:cNvSpPr>
          <p:nvPr>
            <p:ph type="body" idx="1"/>
          </p:nvPr>
        </p:nvSpPr>
        <p:spPr>
          <a:xfrm>
            <a:off x="5278075" y="2489350"/>
            <a:ext cx="3684300" cy="786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 b="1"/>
              <a:t>Quantum Example</a:t>
            </a:r>
            <a:endParaRPr sz="1800" b="1"/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{H, S, T, CNOT}</a:t>
            </a:r>
            <a:endParaRPr sz="1800"/>
          </a:p>
        </p:txBody>
      </p:sp>
      <p:sp>
        <p:nvSpPr>
          <p:cNvPr id="441" name="Google Shape;441;p53"/>
          <p:cNvSpPr txBox="1">
            <a:spLocks noGrp="1"/>
          </p:cNvSpPr>
          <p:nvPr>
            <p:ph type="body" idx="1"/>
          </p:nvPr>
        </p:nvSpPr>
        <p:spPr>
          <a:xfrm>
            <a:off x="338700" y="3521105"/>
            <a:ext cx="8805300" cy="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spcBef>
                <a:spcPts val="11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Both of these examples generate the remaining gates</a:t>
            </a:r>
            <a:endParaRPr sz="1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4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Why Qubits Matter</a:t>
            </a:r>
            <a:endParaRPr/>
          </a:p>
        </p:txBody>
      </p:sp>
      <p:sp>
        <p:nvSpPr>
          <p:cNvPr id="447" name="Google Shape;447;p54"/>
          <p:cNvSpPr txBox="1">
            <a:spLocks noGrp="1"/>
          </p:cNvSpPr>
          <p:nvPr>
            <p:ph type="body" idx="1"/>
          </p:nvPr>
        </p:nvSpPr>
        <p:spPr>
          <a:xfrm>
            <a:off x="338711" y="980347"/>
            <a:ext cx="8805300" cy="3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➔"/>
            </a:pPr>
            <a:r>
              <a:rPr lang="en" sz="1800"/>
              <a:t>Allows for much more space to represent information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 sz="1800"/>
              <a:t>Quantum computing won’t replace classical computing/supercomputing … at least not for a while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 sz="1800"/>
              <a:t>Qubits and quantum computers aren’t fix-all solutions, but they will make certain problems drastically easier to address</a:t>
            </a:r>
            <a:endParaRPr sz="1800">
              <a:highlight>
                <a:schemeClr val="accent4"/>
              </a:highlight>
            </a:endParaRPr>
          </a:p>
          <a:p>
            <a:pPr marL="91440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	</a:t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5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Applications</a:t>
            </a:r>
            <a:endParaRPr/>
          </a:p>
        </p:txBody>
      </p:sp>
      <p:sp>
        <p:nvSpPr>
          <p:cNvPr id="453" name="Google Shape;453;p55"/>
          <p:cNvSpPr txBox="1">
            <a:spLocks noGrp="1"/>
          </p:cNvSpPr>
          <p:nvPr>
            <p:ph type="body" idx="1"/>
          </p:nvPr>
        </p:nvSpPr>
        <p:spPr>
          <a:xfrm>
            <a:off x="338711" y="980347"/>
            <a:ext cx="8805300" cy="3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238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Optimization through quantum algorithms</a:t>
            </a:r>
            <a:endParaRPr sz="15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Modeling complex chemical structures</a:t>
            </a:r>
            <a:endParaRPr sz="15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Speed up drug synthesis by more accurately modeling complex chemical interactions</a:t>
            </a:r>
            <a:endParaRPr sz="15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Developing and Modeling new superconducting materials</a:t>
            </a:r>
            <a:endParaRPr sz="15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Analyze cryptographic systems and motivate post-quantum security</a:t>
            </a:r>
            <a:endParaRPr sz="15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7D52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6"/>
          <p:cNvSpPr txBox="1">
            <a:spLocks noGrp="1"/>
          </p:cNvSpPr>
          <p:nvPr>
            <p:ph type="body" idx="1"/>
          </p:nvPr>
        </p:nvSpPr>
        <p:spPr>
          <a:xfrm>
            <a:off x="338711" y="1237522"/>
            <a:ext cx="8564700" cy="30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endParaRPr sz="30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700"/>
              <a:buNone/>
            </a:pPr>
            <a:endParaRPr sz="30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700"/>
              <a:buNone/>
            </a:pPr>
            <a:r>
              <a:rPr lang="en" sz="3800">
                <a:solidFill>
                  <a:schemeClr val="lt2"/>
                </a:solidFill>
                <a:latin typeface="Cambria"/>
                <a:ea typeface="Cambria"/>
                <a:cs typeface="Cambria"/>
                <a:sym typeface="Cambria"/>
              </a:rPr>
              <a:t>Meet back here in 10 minutes</a:t>
            </a:r>
            <a:endParaRPr sz="3800">
              <a:solidFill>
                <a:schemeClr val="lt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7"/>
          <p:cNvSpPr txBox="1">
            <a:spLocks noGrp="1"/>
          </p:cNvSpPr>
          <p:nvPr>
            <p:ph type="ctrTitle"/>
          </p:nvPr>
        </p:nvSpPr>
        <p:spPr>
          <a:xfrm>
            <a:off x="321550" y="1041725"/>
            <a:ext cx="66951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Qubits in Physical 3D Space</a:t>
            </a:r>
            <a:endParaRPr/>
          </a:p>
        </p:txBody>
      </p:sp>
      <p:sp>
        <p:nvSpPr>
          <p:cNvPr id="464" name="Google Shape;464;p57"/>
          <p:cNvSpPr txBox="1">
            <a:spLocks noGrp="1"/>
          </p:cNvSpPr>
          <p:nvPr>
            <p:ph type="subTitle" idx="1"/>
          </p:nvPr>
        </p:nvSpPr>
        <p:spPr>
          <a:xfrm>
            <a:off x="335611" y="1893628"/>
            <a:ext cx="56115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Chance Loveday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Next Generation Pathways 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10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Oak Ridge Leadership Computing Facility (OLCF)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10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Oak Ridge National Laboratory (ORNL)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100"/>
              <a:buNone/>
            </a:pPr>
            <a:endParaRPr sz="12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100"/>
              <a:buNone/>
            </a:pPr>
            <a:r>
              <a:rPr lang="en" sz="1200"/>
              <a:t>July 13, 2026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0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Qubits → Hardware</a:t>
            </a:r>
            <a:endParaRPr/>
          </a:p>
        </p:txBody>
      </p:sp>
      <p:sp>
        <p:nvSpPr>
          <p:cNvPr id="482" name="Google Shape;482;p60"/>
          <p:cNvSpPr/>
          <p:nvPr/>
        </p:nvSpPr>
        <p:spPr>
          <a:xfrm>
            <a:off x="2466125" y="1025200"/>
            <a:ext cx="1324200" cy="10065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Quantum Circuits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3" name="Google Shape;483;p60"/>
          <p:cNvSpPr/>
          <p:nvPr/>
        </p:nvSpPr>
        <p:spPr>
          <a:xfrm>
            <a:off x="4401950" y="1025200"/>
            <a:ext cx="1324200" cy="10065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Quantum Algorithms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4" name="Google Shape;484;p60"/>
          <p:cNvSpPr/>
          <p:nvPr/>
        </p:nvSpPr>
        <p:spPr>
          <a:xfrm>
            <a:off x="6398525" y="1025200"/>
            <a:ext cx="1324200" cy="10065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Compiler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5" name="Google Shape;485;p60"/>
          <p:cNvSpPr/>
          <p:nvPr/>
        </p:nvSpPr>
        <p:spPr>
          <a:xfrm>
            <a:off x="6398525" y="3043925"/>
            <a:ext cx="1324200" cy="10065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Hardware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6" name="Google Shape;486;p60"/>
          <p:cNvSpPr/>
          <p:nvPr/>
        </p:nvSpPr>
        <p:spPr>
          <a:xfrm>
            <a:off x="570850" y="934000"/>
            <a:ext cx="1188900" cy="1188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Qubits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87" name="Google Shape;487;p60"/>
          <p:cNvCxnSpPr>
            <a:endCxn id="482" idx="1"/>
          </p:cNvCxnSpPr>
          <p:nvPr/>
        </p:nvCxnSpPr>
        <p:spPr>
          <a:xfrm>
            <a:off x="1739525" y="1525150"/>
            <a:ext cx="726600" cy="3300"/>
          </a:xfrm>
          <a:prstGeom prst="straightConnector1">
            <a:avLst/>
          </a:prstGeom>
          <a:noFill/>
          <a:ln w="9525" cap="flat" cmpd="sng">
            <a:solidFill>
              <a:srgbClr val="006C3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8" name="Google Shape;488;p60"/>
          <p:cNvCxnSpPr>
            <a:stCxn id="482" idx="3"/>
            <a:endCxn id="483" idx="1"/>
          </p:cNvCxnSpPr>
          <p:nvPr/>
        </p:nvCxnSpPr>
        <p:spPr>
          <a:xfrm>
            <a:off x="3790325" y="1528450"/>
            <a:ext cx="611700" cy="0"/>
          </a:xfrm>
          <a:prstGeom prst="straightConnector1">
            <a:avLst/>
          </a:prstGeom>
          <a:noFill/>
          <a:ln w="9525" cap="flat" cmpd="sng">
            <a:solidFill>
              <a:srgbClr val="006C3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9" name="Google Shape;489;p60"/>
          <p:cNvCxnSpPr>
            <a:stCxn id="483" idx="3"/>
            <a:endCxn id="484" idx="1"/>
          </p:cNvCxnSpPr>
          <p:nvPr/>
        </p:nvCxnSpPr>
        <p:spPr>
          <a:xfrm>
            <a:off x="5726150" y="1528450"/>
            <a:ext cx="672300" cy="0"/>
          </a:xfrm>
          <a:prstGeom prst="straightConnector1">
            <a:avLst/>
          </a:prstGeom>
          <a:noFill/>
          <a:ln w="9525" cap="flat" cmpd="sng">
            <a:solidFill>
              <a:srgbClr val="006C3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90" name="Google Shape;490;p60"/>
          <p:cNvCxnSpPr>
            <a:stCxn id="484" idx="2"/>
            <a:endCxn id="485" idx="0"/>
          </p:cNvCxnSpPr>
          <p:nvPr/>
        </p:nvCxnSpPr>
        <p:spPr>
          <a:xfrm>
            <a:off x="7060625" y="2031700"/>
            <a:ext cx="0" cy="1012200"/>
          </a:xfrm>
          <a:prstGeom prst="straightConnector1">
            <a:avLst/>
          </a:prstGeom>
          <a:noFill/>
          <a:ln w="9525" cap="flat" cmpd="sng">
            <a:solidFill>
              <a:srgbClr val="006C3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1" name="Google Shape;491;p60"/>
          <p:cNvSpPr/>
          <p:nvPr/>
        </p:nvSpPr>
        <p:spPr>
          <a:xfrm>
            <a:off x="6812775" y="2052000"/>
            <a:ext cx="506700" cy="9654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2" name="Google Shape;492;p60"/>
          <p:cNvSpPr txBox="1"/>
          <p:nvPr/>
        </p:nvSpPr>
        <p:spPr>
          <a:xfrm>
            <a:off x="4243775" y="2234100"/>
            <a:ext cx="2474400" cy="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But how do quantum computers achieve this?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3" name="Google Shape;493;p60"/>
          <p:cNvSpPr txBox="1"/>
          <p:nvPr/>
        </p:nvSpPr>
        <p:spPr>
          <a:xfrm>
            <a:off x="880800" y="4298075"/>
            <a:ext cx="73824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We’ve been treating gates as abstract boxes. Now, let’s open the box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1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Qubits:</a:t>
            </a:r>
            <a:r>
              <a:rPr lang="en"/>
              <a:t> Theory Vs. Physical</a:t>
            </a:r>
            <a:endParaRPr/>
          </a:p>
        </p:txBody>
      </p:sp>
      <p:sp>
        <p:nvSpPr>
          <p:cNvPr id="499" name="Google Shape;499;p61"/>
          <p:cNvSpPr txBox="1">
            <a:spLocks noGrp="1"/>
          </p:cNvSpPr>
          <p:nvPr>
            <p:ph type="body" idx="1"/>
          </p:nvPr>
        </p:nvSpPr>
        <p:spPr>
          <a:xfrm>
            <a:off x="338711" y="980347"/>
            <a:ext cx="8805300" cy="3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We now know what a qubit is in theory, but how does it translate to hardware?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There are 3 prevailing models to represent physical qubits</a:t>
            </a:r>
            <a:endParaRPr sz="1800"/>
          </a:p>
          <a:p>
            <a:pPr marL="457200" lvl="0" indent="-3238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Each model has its individual strengths and weaknesses</a:t>
            </a:r>
            <a:endParaRPr sz="1500"/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 i="1"/>
              <a:t>*Other models exist, but these are the frameworks for the current frontrunners</a:t>
            </a:r>
            <a:endParaRPr sz="1500"/>
          </a:p>
        </p:txBody>
      </p:sp>
      <p:sp>
        <p:nvSpPr>
          <p:cNvPr id="500" name="Google Shape;500;p61"/>
          <p:cNvSpPr txBox="1"/>
          <p:nvPr/>
        </p:nvSpPr>
        <p:spPr>
          <a:xfrm>
            <a:off x="371525" y="3102805"/>
            <a:ext cx="3678300" cy="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ctr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AutoNum type="arabicParenBoth"/>
            </a:pPr>
            <a:r>
              <a:rPr lang="en" sz="18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Superconducting Circuits</a:t>
            </a:r>
            <a:endParaRPr sz="18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-"/>
            </a:pP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IBM, IQM, Google</a:t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1" name="Google Shape;501;p61"/>
          <p:cNvSpPr txBox="1"/>
          <p:nvPr/>
        </p:nvSpPr>
        <p:spPr>
          <a:xfrm>
            <a:off x="5346875" y="3102805"/>
            <a:ext cx="3239700" cy="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(2)	Trapped Ions</a:t>
            </a:r>
            <a:endParaRPr sz="18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-"/>
            </a:pP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IonQ, Quantuum</a:t>
            </a:r>
            <a:endParaRPr sz="18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2" name="Google Shape;502;p61"/>
          <p:cNvSpPr txBox="1"/>
          <p:nvPr/>
        </p:nvSpPr>
        <p:spPr>
          <a:xfrm>
            <a:off x="3245100" y="3979105"/>
            <a:ext cx="2992500" cy="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(3)	Neutral Atoms</a:t>
            </a:r>
            <a:endParaRPr sz="18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Char char="-"/>
            </a:pP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CalTech’s QuEra</a:t>
            </a:r>
            <a:endParaRPr sz="18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2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Qubits:</a:t>
            </a:r>
            <a:r>
              <a:rPr lang="en"/>
              <a:t> Quantum Computers</a:t>
            </a:r>
            <a:endParaRPr/>
          </a:p>
        </p:txBody>
      </p:sp>
      <p:grpSp>
        <p:nvGrpSpPr>
          <p:cNvPr id="508" name="Google Shape;508;p62"/>
          <p:cNvGrpSpPr/>
          <p:nvPr/>
        </p:nvGrpSpPr>
        <p:grpSpPr>
          <a:xfrm>
            <a:off x="761550" y="1283750"/>
            <a:ext cx="1588800" cy="1588800"/>
            <a:chOff x="1726275" y="1961475"/>
            <a:chExt cx="1588800" cy="1588800"/>
          </a:xfrm>
        </p:grpSpPr>
        <p:sp>
          <p:nvSpPr>
            <p:cNvPr id="509" name="Google Shape;509;p62"/>
            <p:cNvSpPr/>
            <p:nvPr/>
          </p:nvSpPr>
          <p:spPr>
            <a:xfrm>
              <a:off x="1726275" y="1961475"/>
              <a:ext cx="1588800" cy="1588800"/>
            </a:xfrm>
            <a:prstGeom prst="ellipse">
              <a:avLst/>
            </a:prstGeom>
            <a:solidFill>
              <a:srgbClr val="2B2B2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510" name="Google Shape;510;p62"/>
            <p:cNvPicPr preferRelativeResize="0"/>
            <p:nvPr/>
          </p:nvPicPr>
          <p:blipFill rotWithShape="1">
            <a:blip r:embed="rId3">
              <a:alphaModFix/>
            </a:blip>
            <a:srcRect l="8241" t="22598" r="8014" b="22658"/>
            <a:stretch/>
          </p:blipFill>
          <p:spPr>
            <a:xfrm>
              <a:off x="1857150" y="2320525"/>
              <a:ext cx="1330600" cy="8697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1" name="Google Shape;511;p62"/>
          <p:cNvGrpSpPr/>
          <p:nvPr/>
        </p:nvGrpSpPr>
        <p:grpSpPr>
          <a:xfrm>
            <a:off x="2254775" y="3062725"/>
            <a:ext cx="1588800" cy="1588800"/>
            <a:chOff x="3177975" y="1421500"/>
            <a:chExt cx="1588800" cy="1588800"/>
          </a:xfrm>
        </p:grpSpPr>
        <p:sp>
          <p:nvSpPr>
            <p:cNvPr id="512" name="Google Shape;512;p62"/>
            <p:cNvSpPr/>
            <p:nvPr/>
          </p:nvSpPr>
          <p:spPr>
            <a:xfrm>
              <a:off x="3177975" y="1421500"/>
              <a:ext cx="1588800" cy="15888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513" name="Google Shape;513;p62" title="google-removebg-preview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71350" y="1714875"/>
              <a:ext cx="1002050" cy="10020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4" name="Google Shape;514;p62"/>
          <p:cNvGrpSpPr/>
          <p:nvPr/>
        </p:nvGrpSpPr>
        <p:grpSpPr>
          <a:xfrm>
            <a:off x="3777600" y="1244175"/>
            <a:ext cx="1588800" cy="1588800"/>
            <a:chOff x="3579475" y="1244175"/>
            <a:chExt cx="1588800" cy="1588800"/>
          </a:xfrm>
        </p:grpSpPr>
        <p:sp>
          <p:nvSpPr>
            <p:cNvPr id="515" name="Google Shape;515;p62"/>
            <p:cNvSpPr/>
            <p:nvPr/>
          </p:nvSpPr>
          <p:spPr>
            <a:xfrm>
              <a:off x="3579475" y="1244175"/>
              <a:ext cx="1588800" cy="1588800"/>
            </a:xfrm>
            <a:prstGeom prst="ellipse">
              <a:avLst/>
            </a:prstGeom>
            <a:solidFill>
              <a:srgbClr val="2B2B2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516" name="Google Shape;516;p62" title="IBM-removebg-preview.png"/>
            <p:cNvPicPr preferRelativeResize="0"/>
            <p:nvPr/>
          </p:nvPicPr>
          <p:blipFill rotWithShape="1">
            <a:blip r:embed="rId5">
              <a:alphaModFix/>
            </a:blip>
            <a:srcRect l="18538" t="33771" r="16892" b="31522"/>
            <a:stretch/>
          </p:blipFill>
          <p:spPr>
            <a:xfrm>
              <a:off x="3630975" y="1639250"/>
              <a:ext cx="1485800" cy="798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7" name="Google Shape;517;p62"/>
          <p:cNvGrpSpPr/>
          <p:nvPr/>
        </p:nvGrpSpPr>
        <p:grpSpPr>
          <a:xfrm>
            <a:off x="7075075" y="1283750"/>
            <a:ext cx="1588800" cy="1588800"/>
            <a:chOff x="5307175" y="3062725"/>
            <a:chExt cx="1588800" cy="1588800"/>
          </a:xfrm>
        </p:grpSpPr>
        <p:sp>
          <p:nvSpPr>
            <p:cNvPr id="518" name="Google Shape;518;p62"/>
            <p:cNvSpPr/>
            <p:nvPr/>
          </p:nvSpPr>
          <p:spPr>
            <a:xfrm>
              <a:off x="5307175" y="3062725"/>
              <a:ext cx="1588800" cy="1588800"/>
            </a:xfrm>
            <a:prstGeom prst="ellipse">
              <a:avLst/>
            </a:prstGeom>
            <a:solidFill>
              <a:srgbClr val="2B2B2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519" name="Google Shape;519;p62" title="iqm-removebg-preview.png"/>
            <p:cNvPicPr preferRelativeResize="0"/>
            <p:nvPr/>
          </p:nvPicPr>
          <p:blipFill rotWithShape="1">
            <a:blip r:embed="rId6">
              <a:alphaModFix/>
            </a:blip>
            <a:srcRect l="30178" t="34782" r="27972" b="32509"/>
            <a:stretch/>
          </p:blipFill>
          <p:spPr>
            <a:xfrm>
              <a:off x="5423825" y="3505425"/>
              <a:ext cx="1355499" cy="703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0" name="Google Shape;520;p62"/>
          <p:cNvGrpSpPr/>
          <p:nvPr/>
        </p:nvGrpSpPr>
        <p:grpSpPr>
          <a:xfrm>
            <a:off x="5486275" y="3062725"/>
            <a:ext cx="1588800" cy="1588800"/>
            <a:chOff x="7100800" y="1420025"/>
            <a:chExt cx="1588800" cy="1588800"/>
          </a:xfrm>
        </p:grpSpPr>
        <p:sp>
          <p:nvSpPr>
            <p:cNvPr id="521" name="Google Shape;521;p62"/>
            <p:cNvSpPr/>
            <p:nvPr/>
          </p:nvSpPr>
          <p:spPr>
            <a:xfrm>
              <a:off x="7100800" y="1420025"/>
              <a:ext cx="1588800" cy="1588800"/>
            </a:xfrm>
            <a:prstGeom prst="ellipse">
              <a:avLst/>
            </a:prstGeom>
            <a:solidFill>
              <a:srgbClr val="F2F2F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522" name="Google Shape;522;p62" title="CalTech_QuEra-removebg-preview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167186" y="2001463"/>
              <a:ext cx="1456026" cy="4259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3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Qubits:</a:t>
            </a:r>
            <a:r>
              <a:rPr lang="en"/>
              <a:t> Superconducting Circuits</a:t>
            </a:r>
            <a:endParaRPr/>
          </a:p>
        </p:txBody>
      </p:sp>
      <p:sp>
        <p:nvSpPr>
          <p:cNvPr id="528" name="Google Shape;528;p63"/>
          <p:cNvSpPr txBox="1">
            <a:spLocks noGrp="1"/>
          </p:cNvSpPr>
          <p:nvPr>
            <p:ph type="body" idx="1"/>
          </p:nvPr>
        </p:nvSpPr>
        <p:spPr>
          <a:xfrm>
            <a:off x="338711" y="980347"/>
            <a:ext cx="8805300" cy="3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Qubit:</a:t>
            </a:r>
            <a:r>
              <a:rPr lang="en" sz="1800"/>
              <a:t> Tiny superconducting electrical circuit</a:t>
            </a:r>
            <a:endParaRPr sz="18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Gates are controlled by:</a:t>
            </a:r>
            <a:r>
              <a:rPr lang="en" sz="1800"/>
              <a:t> Microwave pulses</a:t>
            </a:r>
            <a:endParaRPr sz="18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Operating Temp:</a:t>
            </a:r>
            <a:r>
              <a:rPr lang="en" sz="1800"/>
              <a:t> 10-15 mK</a:t>
            </a:r>
            <a:endParaRPr sz="18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Companies:</a:t>
            </a:r>
            <a:endParaRPr sz="1800" b="1"/>
          </a:p>
        </p:txBody>
      </p:sp>
      <p:grpSp>
        <p:nvGrpSpPr>
          <p:cNvPr id="529" name="Google Shape;529;p63"/>
          <p:cNvGrpSpPr/>
          <p:nvPr/>
        </p:nvGrpSpPr>
        <p:grpSpPr>
          <a:xfrm>
            <a:off x="753579" y="2932480"/>
            <a:ext cx="1415462" cy="1415462"/>
            <a:chOff x="3177975" y="1421500"/>
            <a:chExt cx="1588800" cy="1588800"/>
          </a:xfrm>
        </p:grpSpPr>
        <p:sp>
          <p:nvSpPr>
            <p:cNvPr id="530" name="Google Shape;530;p63"/>
            <p:cNvSpPr/>
            <p:nvPr/>
          </p:nvSpPr>
          <p:spPr>
            <a:xfrm>
              <a:off x="3177975" y="1421500"/>
              <a:ext cx="1588800" cy="1588800"/>
            </a:xfrm>
            <a:prstGeom prst="ellipse">
              <a:avLst/>
            </a:prstGeom>
            <a:solidFill>
              <a:srgbClr val="F2F2F2"/>
            </a:solidFill>
            <a:ln w="84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1450" tIns="81450" rIns="81450" bIns="814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47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531" name="Google Shape;531;p63" title="google-removebg-preview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71350" y="1714875"/>
              <a:ext cx="1002050" cy="10020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2" name="Google Shape;532;p63"/>
          <p:cNvGrpSpPr/>
          <p:nvPr/>
        </p:nvGrpSpPr>
        <p:grpSpPr>
          <a:xfrm>
            <a:off x="2509225" y="2932473"/>
            <a:ext cx="1415462" cy="1415462"/>
            <a:chOff x="3579475" y="1244175"/>
            <a:chExt cx="1588800" cy="1588800"/>
          </a:xfrm>
        </p:grpSpPr>
        <p:sp>
          <p:nvSpPr>
            <p:cNvPr id="533" name="Google Shape;533;p63"/>
            <p:cNvSpPr/>
            <p:nvPr/>
          </p:nvSpPr>
          <p:spPr>
            <a:xfrm>
              <a:off x="3579475" y="1244175"/>
              <a:ext cx="1588800" cy="1588800"/>
            </a:xfrm>
            <a:prstGeom prst="ellipse">
              <a:avLst/>
            </a:prstGeom>
            <a:solidFill>
              <a:srgbClr val="2B2B2B"/>
            </a:solidFill>
            <a:ln w="84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1450" tIns="81450" rIns="81450" bIns="814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47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534" name="Google Shape;534;p63" title="IBM-removebg-preview.png"/>
            <p:cNvPicPr preferRelativeResize="0"/>
            <p:nvPr/>
          </p:nvPicPr>
          <p:blipFill rotWithShape="1">
            <a:blip r:embed="rId4">
              <a:alphaModFix/>
            </a:blip>
            <a:srcRect l="18538" t="33771" r="16892" b="31522"/>
            <a:stretch/>
          </p:blipFill>
          <p:spPr>
            <a:xfrm>
              <a:off x="3630975" y="1639250"/>
              <a:ext cx="1485800" cy="798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5" name="Google Shape;535;p63"/>
          <p:cNvGrpSpPr/>
          <p:nvPr/>
        </p:nvGrpSpPr>
        <p:grpSpPr>
          <a:xfrm>
            <a:off x="4221840" y="2932544"/>
            <a:ext cx="1415462" cy="1415462"/>
            <a:chOff x="5307175" y="3062725"/>
            <a:chExt cx="1588800" cy="1588800"/>
          </a:xfrm>
        </p:grpSpPr>
        <p:sp>
          <p:nvSpPr>
            <p:cNvPr id="536" name="Google Shape;536;p63"/>
            <p:cNvSpPr/>
            <p:nvPr/>
          </p:nvSpPr>
          <p:spPr>
            <a:xfrm>
              <a:off x="5307175" y="3062725"/>
              <a:ext cx="1588800" cy="1588800"/>
            </a:xfrm>
            <a:prstGeom prst="ellipse">
              <a:avLst/>
            </a:prstGeom>
            <a:solidFill>
              <a:srgbClr val="2B2B2B"/>
            </a:solidFill>
            <a:ln w="84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1450" tIns="81450" rIns="81450" bIns="814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47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537" name="Google Shape;537;p63" title="iqm-removebg-preview.png"/>
            <p:cNvPicPr preferRelativeResize="0"/>
            <p:nvPr/>
          </p:nvPicPr>
          <p:blipFill rotWithShape="1">
            <a:blip r:embed="rId5">
              <a:alphaModFix/>
            </a:blip>
            <a:srcRect l="30178" t="34782" r="27972" b="32509"/>
            <a:stretch/>
          </p:blipFill>
          <p:spPr>
            <a:xfrm>
              <a:off x="5423825" y="3505425"/>
              <a:ext cx="1355499" cy="703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4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Qubits:</a:t>
            </a:r>
            <a:r>
              <a:rPr lang="en"/>
              <a:t> Trapped Ions</a:t>
            </a:r>
            <a:endParaRPr/>
          </a:p>
        </p:txBody>
      </p:sp>
      <p:sp>
        <p:nvSpPr>
          <p:cNvPr id="543" name="Google Shape;543;p64"/>
          <p:cNvSpPr txBox="1">
            <a:spLocks noGrp="1"/>
          </p:cNvSpPr>
          <p:nvPr>
            <p:ph type="body" idx="1"/>
          </p:nvPr>
        </p:nvSpPr>
        <p:spPr>
          <a:xfrm>
            <a:off x="338711" y="980347"/>
            <a:ext cx="8805300" cy="3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Qubit:</a:t>
            </a:r>
            <a:r>
              <a:rPr lang="en" sz="1800"/>
              <a:t> Encoded in highly stable energy levels of ions</a:t>
            </a:r>
            <a:endParaRPr sz="18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Gates are controlled by:</a:t>
            </a:r>
            <a:r>
              <a:rPr lang="en" sz="1800"/>
              <a:t> Precise lasers</a:t>
            </a:r>
            <a:endParaRPr sz="18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Operating Temp:</a:t>
            </a:r>
            <a:r>
              <a:rPr lang="en" sz="1800"/>
              <a:t> Room temperature in a vacuum-sealed chamber</a:t>
            </a:r>
            <a:endParaRPr sz="18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Companies:</a:t>
            </a:r>
            <a:endParaRPr sz="1800" b="1"/>
          </a:p>
        </p:txBody>
      </p:sp>
      <p:grpSp>
        <p:nvGrpSpPr>
          <p:cNvPr id="544" name="Google Shape;544;p64"/>
          <p:cNvGrpSpPr/>
          <p:nvPr/>
        </p:nvGrpSpPr>
        <p:grpSpPr>
          <a:xfrm>
            <a:off x="2509225" y="2932473"/>
            <a:ext cx="1415462" cy="1415462"/>
            <a:chOff x="2509225" y="2932473"/>
            <a:chExt cx="1415462" cy="1415462"/>
          </a:xfrm>
        </p:grpSpPr>
        <p:sp>
          <p:nvSpPr>
            <p:cNvPr id="545" name="Google Shape;545;p64"/>
            <p:cNvSpPr/>
            <p:nvPr/>
          </p:nvSpPr>
          <p:spPr>
            <a:xfrm>
              <a:off x="2509225" y="2932473"/>
              <a:ext cx="1415462" cy="1415462"/>
            </a:xfrm>
            <a:prstGeom prst="ellipse">
              <a:avLst/>
            </a:prstGeom>
            <a:solidFill>
              <a:srgbClr val="2B2B2B"/>
            </a:solidFill>
            <a:ln w="84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1450" tIns="81450" rIns="81450" bIns="814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47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546" name="Google Shape;546;p64"/>
            <p:cNvPicPr preferRelativeResize="0"/>
            <p:nvPr/>
          </p:nvPicPr>
          <p:blipFill rotWithShape="1">
            <a:blip r:embed="rId3">
              <a:alphaModFix/>
            </a:blip>
            <a:srcRect l="8241" t="22598" r="8014" b="22658"/>
            <a:stretch/>
          </p:blipFill>
          <p:spPr>
            <a:xfrm>
              <a:off x="2649613" y="3269361"/>
              <a:ext cx="1134675" cy="741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7" name="Google Shape;547;p64"/>
          <p:cNvGrpSpPr/>
          <p:nvPr/>
        </p:nvGrpSpPr>
        <p:grpSpPr>
          <a:xfrm>
            <a:off x="753579" y="2932480"/>
            <a:ext cx="1415462" cy="1415462"/>
            <a:chOff x="753579" y="2932480"/>
            <a:chExt cx="1415462" cy="1415462"/>
          </a:xfrm>
        </p:grpSpPr>
        <p:sp>
          <p:nvSpPr>
            <p:cNvPr id="548" name="Google Shape;548;p64"/>
            <p:cNvSpPr/>
            <p:nvPr/>
          </p:nvSpPr>
          <p:spPr>
            <a:xfrm>
              <a:off x="753579" y="2932480"/>
              <a:ext cx="1415462" cy="1415462"/>
            </a:xfrm>
            <a:prstGeom prst="ellipse">
              <a:avLst/>
            </a:prstGeom>
            <a:solidFill>
              <a:srgbClr val="F2F2F2"/>
            </a:solidFill>
            <a:ln w="84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1450" tIns="81450" rIns="81450" bIns="814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47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549" name="Google Shape;549;p64" title="ionq-removebg-preview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6350" y="3262222"/>
              <a:ext cx="1349925" cy="7559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5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Qubits:</a:t>
            </a:r>
            <a:r>
              <a:rPr lang="en"/>
              <a:t> Neutral Atoms</a:t>
            </a:r>
            <a:endParaRPr/>
          </a:p>
        </p:txBody>
      </p:sp>
      <p:sp>
        <p:nvSpPr>
          <p:cNvPr id="555" name="Google Shape;555;p65"/>
          <p:cNvSpPr txBox="1">
            <a:spLocks noGrp="1"/>
          </p:cNvSpPr>
          <p:nvPr>
            <p:ph type="body" idx="1"/>
          </p:nvPr>
        </p:nvSpPr>
        <p:spPr>
          <a:xfrm>
            <a:off x="338711" y="980347"/>
            <a:ext cx="8805300" cy="3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Qubit:</a:t>
            </a:r>
            <a:r>
              <a:rPr lang="en" sz="1800"/>
              <a:t> Encoded within physical energy levels of electrons of trapped uncharged atoms held by ‘optical tweezers’</a:t>
            </a:r>
            <a:endParaRPr sz="18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Gates are controlled by:</a:t>
            </a:r>
            <a:r>
              <a:rPr lang="en" sz="1800"/>
              <a:t> Precise lasers</a:t>
            </a:r>
            <a:endParaRPr sz="18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Operating Temp:</a:t>
            </a:r>
            <a:r>
              <a:rPr lang="en" sz="1800"/>
              <a:t> Ultracold → Below 1 mK</a:t>
            </a:r>
            <a:endParaRPr sz="18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Companies:</a:t>
            </a:r>
            <a:endParaRPr sz="1800" b="1"/>
          </a:p>
        </p:txBody>
      </p:sp>
      <p:grpSp>
        <p:nvGrpSpPr>
          <p:cNvPr id="556" name="Google Shape;556;p65"/>
          <p:cNvGrpSpPr/>
          <p:nvPr/>
        </p:nvGrpSpPr>
        <p:grpSpPr>
          <a:xfrm>
            <a:off x="703886" y="3061068"/>
            <a:ext cx="1456026" cy="1415462"/>
            <a:chOff x="4551736" y="3033405"/>
            <a:chExt cx="1456026" cy="1415462"/>
          </a:xfrm>
        </p:grpSpPr>
        <p:sp>
          <p:nvSpPr>
            <p:cNvPr id="557" name="Google Shape;557;p65"/>
            <p:cNvSpPr/>
            <p:nvPr/>
          </p:nvSpPr>
          <p:spPr>
            <a:xfrm>
              <a:off x="4572004" y="3033405"/>
              <a:ext cx="1415462" cy="1415462"/>
            </a:xfrm>
            <a:prstGeom prst="ellipse">
              <a:avLst/>
            </a:prstGeom>
            <a:solidFill>
              <a:srgbClr val="F2F2F2"/>
            </a:solidFill>
            <a:ln w="84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1450" tIns="81450" rIns="81450" bIns="814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47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558" name="Google Shape;558;p65" title="CalTech_QuEra-removebg-preview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51736" y="3528163"/>
              <a:ext cx="1456026" cy="4259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9" name="Google Shape;559;p65"/>
          <p:cNvGrpSpPr/>
          <p:nvPr/>
        </p:nvGrpSpPr>
        <p:grpSpPr>
          <a:xfrm>
            <a:off x="2604929" y="3061093"/>
            <a:ext cx="1415400" cy="1415400"/>
            <a:chOff x="2604929" y="3061093"/>
            <a:chExt cx="1415400" cy="1415400"/>
          </a:xfrm>
        </p:grpSpPr>
        <p:sp>
          <p:nvSpPr>
            <p:cNvPr id="560" name="Google Shape;560;p65"/>
            <p:cNvSpPr/>
            <p:nvPr/>
          </p:nvSpPr>
          <p:spPr>
            <a:xfrm>
              <a:off x="2604929" y="3061093"/>
              <a:ext cx="1415400" cy="1415400"/>
            </a:xfrm>
            <a:prstGeom prst="ellipse">
              <a:avLst/>
            </a:prstGeom>
            <a:solidFill>
              <a:srgbClr val="F2F2F2"/>
            </a:solidFill>
            <a:ln w="84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1450" tIns="81450" rIns="81450" bIns="814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47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561" name="Google Shape;561;p65" title="caltech-removebg-preview.png"/>
            <p:cNvPicPr preferRelativeResize="0"/>
            <p:nvPr/>
          </p:nvPicPr>
          <p:blipFill rotWithShape="1">
            <a:blip r:embed="rId4">
              <a:alphaModFix/>
            </a:blip>
            <a:srcRect t="10222" b="10357"/>
            <a:stretch/>
          </p:blipFill>
          <p:spPr>
            <a:xfrm>
              <a:off x="2680679" y="3099593"/>
              <a:ext cx="1263900" cy="1338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6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Hardware:</a:t>
            </a:r>
            <a:r>
              <a:rPr lang="en"/>
              <a:t> Quantum Computer Anatomy I</a:t>
            </a:r>
            <a:endParaRPr/>
          </a:p>
        </p:txBody>
      </p:sp>
      <p:sp>
        <p:nvSpPr>
          <p:cNvPr id="567" name="Google Shape;567;p66"/>
          <p:cNvSpPr txBox="1">
            <a:spLocks noGrp="1"/>
          </p:cNvSpPr>
          <p:nvPr>
            <p:ph type="body" idx="1"/>
          </p:nvPr>
        </p:nvSpPr>
        <p:spPr>
          <a:xfrm>
            <a:off x="338700" y="980348"/>
            <a:ext cx="88053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As we just discussed, there are several designs for building a quantum computer</a:t>
            </a: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This is the general abstraction for a quantum computer using the superconductive circuit model</a:t>
            </a:r>
            <a:endParaRPr sz="1800"/>
          </a:p>
        </p:txBody>
      </p:sp>
      <p:pic>
        <p:nvPicPr>
          <p:cNvPr id="568" name="Google Shape;56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5225" y="2338148"/>
            <a:ext cx="2216027" cy="250055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66"/>
          <p:cNvSpPr txBox="1"/>
          <p:nvPr/>
        </p:nvSpPr>
        <p:spPr>
          <a:xfrm>
            <a:off x="5025425" y="2571750"/>
            <a:ext cx="293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Chandelier = Subzero Refrigerator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0" name="Google Shape;570;p66"/>
          <p:cNvSpPr txBox="1"/>
          <p:nvPr/>
        </p:nvSpPr>
        <p:spPr>
          <a:xfrm>
            <a:off x="5025425" y="3892775"/>
            <a:ext cx="303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Gold plates separating each layer that narrow as the deeper you go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1" name="Google Shape;571;p66"/>
          <p:cNvSpPr txBox="1"/>
          <p:nvPr/>
        </p:nvSpPr>
        <p:spPr>
          <a:xfrm>
            <a:off x="5025425" y="3301350"/>
            <a:ext cx="257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Circuitry surrounding a core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72" name="Google Shape;572;p66"/>
          <p:cNvCxnSpPr>
            <a:stCxn id="569" idx="1"/>
          </p:cNvCxnSpPr>
          <p:nvPr/>
        </p:nvCxnSpPr>
        <p:spPr>
          <a:xfrm rot="10800000">
            <a:off x="4522925" y="2748300"/>
            <a:ext cx="502500" cy="8100"/>
          </a:xfrm>
          <a:prstGeom prst="straightConnector1">
            <a:avLst/>
          </a:prstGeom>
          <a:noFill/>
          <a:ln w="9525" cap="flat" cmpd="sng">
            <a:solidFill>
              <a:srgbClr val="0B5394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3" name="Google Shape;573;p66"/>
          <p:cNvCxnSpPr>
            <a:stCxn id="571" idx="1"/>
          </p:cNvCxnSpPr>
          <p:nvPr/>
        </p:nvCxnSpPr>
        <p:spPr>
          <a:xfrm rot="10800000">
            <a:off x="4023425" y="2937300"/>
            <a:ext cx="1002000" cy="548700"/>
          </a:xfrm>
          <a:prstGeom prst="straightConnector1">
            <a:avLst/>
          </a:prstGeom>
          <a:noFill/>
          <a:ln w="9525" cap="flat" cmpd="sng">
            <a:solidFill>
              <a:srgbClr val="0B5394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4" name="Google Shape;574;p66"/>
          <p:cNvCxnSpPr>
            <a:stCxn id="571" idx="1"/>
          </p:cNvCxnSpPr>
          <p:nvPr/>
        </p:nvCxnSpPr>
        <p:spPr>
          <a:xfrm flipH="1">
            <a:off x="3682025" y="3486000"/>
            <a:ext cx="1343400" cy="227100"/>
          </a:xfrm>
          <a:prstGeom prst="straightConnector1">
            <a:avLst/>
          </a:prstGeom>
          <a:noFill/>
          <a:ln w="9525" cap="flat" cmpd="sng">
            <a:solidFill>
              <a:srgbClr val="0B5394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5" name="Google Shape;575;p66"/>
          <p:cNvCxnSpPr>
            <a:stCxn id="570" idx="1"/>
          </p:cNvCxnSpPr>
          <p:nvPr/>
        </p:nvCxnSpPr>
        <p:spPr>
          <a:xfrm rot="10800000">
            <a:off x="4090025" y="4146125"/>
            <a:ext cx="935400" cy="23700"/>
          </a:xfrm>
          <a:prstGeom prst="straightConnector1">
            <a:avLst/>
          </a:prstGeom>
          <a:noFill/>
          <a:ln w="9525" cap="flat" cmpd="sng">
            <a:solidFill>
              <a:srgbClr val="0B5394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6" name="Google Shape;576;p66"/>
          <p:cNvCxnSpPr>
            <a:stCxn id="570" idx="1"/>
          </p:cNvCxnSpPr>
          <p:nvPr/>
        </p:nvCxnSpPr>
        <p:spPr>
          <a:xfrm rot="10800000">
            <a:off x="4240625" y="2773925"/>
            <a:ext cx="784800" cy="1395900"/>
          </a:xfrm>
          <a:prstGeom prst="straightConnector1">
            <a:avLst/>
          </a:prstGeom>
          <a:noFill/>
          <a:ln w="9525" cap="flat" cmpd="sng">
            <a:solidFill>
              <a:srgbClr val="0B5394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7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Hardware:</a:t>
            </a:r>
            <a:r>
              <a:rPr lang="en"/>
              <a:t> Quantum Computer Anatomy II</a:t>
            </a:r>
            <a:endParaRPr/>
          </a:p>
        </p:txBody>
      </p:sp>
      <p:sp>
        <p:nvSpPr>
          <p:cNvPr id="582" name="Google Shape;582;p67"/>
          <p:cNvSpPr txBox="1">
            <a:spLocks noGrp="1"/>
          </p:cNvSpPr>
          <p:nvPr>
            <p:ph type="body" idx="1"/>
          </p:nvPr>
        </p:nvSpPr>
        <p:spPr>
          <a:xfrm>
            <a:off x="338711" y="980347"/>
            <a:ext cx="8805300" cy="3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Let’s look at one computer in particular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Why not use this as a chance to explore ORNL’s recently launched Pathfinder?</a:t>
            </a:r>
            <a:endParaRPr sz="1800"/>
          </a:p>
        </p:txBody>
      </p:sp>
      <p:pic>
        <p:nvPicPr>
          <p:cNvPr id="583" name="Google Shape;58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8450" y="1923075"/>
            <a:ext cx="3825800" cy="28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8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Hardware:</a:t>
            </a:r>
            <a:r>
              <a:rPr lang="en"/>
              <a:t> Quantum Computer Anatomy III</a:t>
            </a:r>
            <a:endParaRPr/>
          </a:p>
        </p:txBody>
      </p:sp>
      <p:sp>
        <p:nvSpPr>
          <p:cNvPr id="589" name="Google Shape;589;p68"/>
          <p:cNvSpPr txBox="1">
            <a:spLocks noGrp="1"/>
          </p:cNvSpPr>
          <p:nvPr>
            <p:ph type="body" idx="1"/>
          </p:nvPr>
        </p:nvSpPr>
        <p:spPr>
          <a:xfrm>
            <a:off x="338700" y="980350"/>
            <a:ext cx="5538000" cy="3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Although Pathfinder is brand-new, its architecture follows the general pattern of superconducting circuit designs</a:t>
            </a:r>
            <a:endParaRPr sz="1800"/>
          </a:p>
          <a:p>
            <a:pPr marL="45720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238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Bluefors Dilution Refrigerator </a:t>
            </a:r>
            <a:r>
              <a:rPr lang="en" sz="1200"/>
              <a:t>(cryosystem w/ temps ≤ 10 mK)</a:t>
            </a:r>
            <a:endParaRPr sz="1200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Quantum Processing Unit (QPU)</a:t>
            </a:r>
            <a:endParaRPr sz="1500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20 Qubits</a:t>
            </a:r>
            <a:endParaRPr sz="1500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Couplers</a:t>
            </a:r>
            <a:endParaRPr sz="1500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Control and Flux Lines</a:t>
            </a:r>
            <a:endParaRPr sz="1500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Connected to HPC systems via a test bed</a:t>
            </a:r>
            <a:endParaRPr sz="1500"/>
          </a:p>
        </p:txBody>
      </p:sp>
      <p:pic>
        <p:nvPicPr>
          <p:cNvPr id="590" name="Google Shape;590;p68" title="dilution_fridge_cutaway_blank.png"/>
          <p:cNvPicPr preferRelativeResize="0"/>
          <p:nvPr/>
        </p:nvPicPr>
        <p:blipFill rotWithShape="1">
          <a:blip r:embed="rId3">
            <a:alphaModFix/>
          </a:blip>
          <a:srcRect l="24624" r="23657"/>
          <a:stretch/>
        </p:blipFill>
        <p:spPr>
          <a:xfrm>
            <a:off x="7057792" y="607450"/>
            <a:ext cx="1837033" cy="4075203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68"/>
          <p:cNvSpPr txBox="1"/>
          <p:nvPr/>
        </p:nvSpPr>
        <p:spPr>
          <a:xfrm>
            <a:off x="6242225" y="4627000"/>
            <a:ext cx="27303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We’ll break this down in a minute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9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Hardware:</a:t>
            </a:r>
            <a:r>
              <a:rPr lang="en"/>
              <a:t> How Gates Physically Exist</a:t>
            </a:r>
            <a:endParaRPr/>
          </a:p>
        </p:txBody>
      </p:sp>
      <p:sp>
        <p:nvSpPr>
          <p:cNvPr id="597" name="Google Shape;597;p69"/>
          <p:cNvSpPr txBox="1">
            <a:spLocks noGrp="1"/>
          </p:cNvSpPr>
          <p:nvPr>
            <p:ph type="body" idx="1"/>
          </p:nvPr>
        </p:nvSpPr>
        <p:spPr>
          <a:xfrm>
            <a:off x="338711" y="980347"/>
            <a:ext cx="8805300" cy="3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In classical computers, logic gates are physical circuits, controlled by transistors</a:t>
            </a:r>
            <a:endParaRPr sz="18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However, quantum computers treat their gates differently</a:t>
            </a:r>
            <a:endParaRPr sz="18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Qubits can still be represented physically like we saw in the different models, but …</a:t>
            </a:r>
            <a:endParaRPr sz="1800"/>
          </a:p>
          <a:p>
            <a:pPr marL="9144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Gates are applied via microwave pulses (specific to superconducting circuits)</a:t>
            </a:r>
            <a:endParaRPr sz="15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9144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They can also take the form of</a:t>
            </a:r>
            <a:endParaRPr sz="1500"/>
          </a:p>
          <a:p>
            <a:pPr marL="1371600" lvl="1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 b="1"/>
              <a:t>lasers</a:t>
            </a:r>
            <a:r>
              <a:rPr lang="en" sz="1500"/>
              <a:t> (Trapped Ion + Neutral Atoms)</a:t>
            </a:r>
            <a:endParaRPr sz="1500"/>
          </a:p>
          <a:p>
            <a:pPr marL="91440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or</a:t>
            </a:r>
            <a:endParaRPr sz="1500"/>
          </a:p>
          <a:p>
            <a:pPr marL="1371600" lvl="1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 b="1"/>
              <a:t>electrical pulses</a:t>
            </a:r>
            <a:r>
              <a:rPr lang="en" sz="1500"/>
              <a:t> (other QC designs)</a:t>
            </a:r>
            <a:endParaRPr sz="15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9144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These instructions begin as a script, are ‘transpiled’ into hardware instructions from a framework like Qiskit, and mapped to a series of microwave pulses</a:t>
            </a:r>
            <a:endParaRPr sz="15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0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Hardware:</a:t>
            </a:r>
            <a:r>
              <a:rPr lang="en"/>
              <a:t> Cooling Systems I</a:t>
            </a:r>
            <a:endParaRPr/>
          </a:p>
        </p:txBody>
      </p:sp>
      <p:sp>
        <p:nvSpPr>
          <p:cNvPr id="603" name="Google Shape;603;p70"/>
          <p:cNvSpPr txBox="1">
            <a:spLocks noGrp="1"/>
          </p:cNvSpPr>
          <p:nvPr>
            <p:ph type="body" idx="1"/>
          </p:nvPr>
        </p:nvSpPr>
        <p:spPr>
          <a:xfrm>
            <a:off x="338700" y="2081075"/>
            <a:ext cx="6217800" cy="2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238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Room temperature = ~300 K</a:t>
            </a:r>
            <a:endParaRPr sz="1500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First, helium compressors chill the entire system to 4 K</a:t>
            </a:r>
            <a:endParaRPr sz="1500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Simultaneously, a second gas-handling cooling loop further reduces the internal temperature to ≤ 10 mK</a:t>
            </a:r>
            <a:endParaRPr sz="15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➔"/>
            </a:pPr>
            <a:r>
              <a:rPr lang="en" sz="1800"/>
              <a:t>Such a frigid environment is necessary to keep qubits in their fragile quantum states</a:t>
            </a: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 sz="1800"/>
              <a:t>Otherwise, these computers lose lots of information</a:t>
            </a:r>
            <a:endParaRPr sz="1800"/>
          </a:p>
        </p:txBody>
      </p:sp>
      <p:pic>
        <p:nvPicPr>
          <p:cNvPr id="604" name="Google Shape;60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7600" y="2252250"/>
            <a:ext cx="2279550" cy="227955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70"/>
          <p:cNvSpPr txBox="1"/>
          <p:nvPr/>
        </p:nvSpPr>
        <p:spPr>
          <a:xfrm>
            <a:off x="338700" y="1088150"/>
            <a:ext cx="8805300" cy="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Bluefors cryosystem is a gas-driven cooling system and essential for Pathfinder’s qubits to work properly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71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Hardware:</a:t>
            </a:r>
            <a:r>
              <a:rPr lang="en"/>
              <a:t> Cooling Systems II</a:t>
            </a:r>
            <a:endParaRPr/>
          </a:p>
        </p:txBody>
      </p:sp>
      <p:pic>
        <p:nvPicPr>
          <p:cNvPr id="611" name="Google Shape;611;p71" title="dilution_fridge_cutaway_blank.png"/>
          <p:cNvPicPr preferRelativeResize="0"/>
          <p:nvPr/>
        </p:nvPicPr>
        <p:blipFill rotWithShape="1">
          <a:blip r:embed="rId3">
            <a:alphaModFix/>
          </a:blip>
          <a:srcRect l="24624" r="23657"/>
          <a:stretch/>
        </p:blipFill>
        <p:spPr>
          <a:xfrm>
            <a:off x="3608877" y="607450"/>
            <a:ext cx="1999383" cy="4435374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71"/>
          <p:cNvSpPr txBox="1">
            <a:spLocks noGrp="1"/>
          </p:cNvSpPr>
          <p:nvPr>
            <p:ph type="body" idx="1"/>
          </p:nvPr>
        </p:nvSpPr>
        <p:spPr>
          <a:xfrm>
            <a:off x="6080625" y="980350"/>
            <a:ext cx="2600100" cy="317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200"/>
              <a:t>Mounting Plate + Support Springs</a:t>
            </a:r>
            <a:endParaRPr sz="1200"/>
          </a:p>
        </p:txBody>
      </p:sp>
      <p:sp>
        <p:nvSpPr>
          <p:cNvPr id="613" name="Google Shape;613;p71"/>
          <p:cNvSpPr txBox="1">
            <a:spLocks noGrp="1"/>
          </p:cNvSpPr>
          <p:nvPr>
            <p:ph type="body" idx="1"/>
          </p:nvPr>
        </p:nvSpPr>
        <p:spPr>
          <a:xfrm>
            <a:off x="1004625" y="1702925"/>
            <a:ext cx="2081400" cy="554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/>
              <a:t>Initial Cooling Stage:</a:t>
            </a:r>
            <a:endParaRPr sz="15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Temp of 4K</a:t>
            </a:r>
            <a:endParaRPr sz="1200"/>
          </a:p>
        </p:txBody>
      </p:sp>
      <p:sp>
        <p:nvSpPr>
          <p:cNvPr id="614" name="Google Shape;614;p71"/>
          <p:cNvSpPr txBox="1">
            <a:spLocks noGrp="1"/>
          </p:cNvSpPr>
          <p:nvPr>
            <p:ph type="body" idx="1"/>
          </p:nvPr>
        </p:nvSpPr>
        <p:spPr>
          <a:xfrm>
            <a:off x="6122950" y="2571750"/>
            <a:ext cx="2706000" cy="554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/>
              <a:t>Intermediate Cooling Stage</a:t>
            </a:r>
            <a:endParaRPr sz="15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Isolators + Filters + Amplifiers</a:t>
            </a:r>
            <a:endParaRPr sz="1200"/>
          </a:p>
        </p:txBody>
      </p:sp>
      <p:sp>
        <p:nvSpPr>
          <p:cNvPr id="615" name="Google Shape;615;p71"/>
          <p:cNvSpPr txBox="1">
            <a:spLocks noGrp="1"/>
          </p:cNvSpPr>
          <p:nvPr>
            <p:ph type="body" idx="1"/>
          </p:nvPr>
        </p:nvSpPr>
        <p:spPr>
          <a:xfrm>
            <a:off x="1457825" y="3352500"/>
            <a:ext cx="2046000" cy="633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/>
              <a:t>Final Cooling Stage:</a:t>
            </a:r>
            <a:endParaRPr sz="15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Houses chip</a:t>
            </a:r>
            <a:endParaRPr sz="12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Temps ≤ 10 mK</a:t>
            </a:r>
            <a:endParaRPr sz="1200"/>
          </a:p>
        </p:txBody>
      </p:sp>
      <p:sp>
        <p:nvSpPr>
          <p:cNvPr id="616" name="Google Shape;616;p71"/>
          <p:cNvSpPr txBox="1">
            <a:spLocks noGrp="1"/>
          </p:cNvSpPr>
          <p:nvPr>
            <p:ph type="body" idx="1"/>
          </p:nvPr>
        </p:nvSpPr>
        <p:spPr>
          <a:xfrm>
            <a:off x="6080625" y="4197475"/>
            <a:ext cx="2600100" cy="317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200"/>
              <a:t>Encasing + Bottom Plate</a:t>
            </a:r>
            <a:endParaRPr sz="1200"/>
          </a:p>
        </p:txBody>
      </p:sp>
      <p:cxnSp>
        <p:nvCxnSpPr>
          <p:cNvPr id="617" name="Google Shape;617;p71"/>
          <p:cNvCxnSpPr/>
          <p:nvPr/>
        </p:nvCxnSpPr>
        <p:spPr>
          <a:xfrm flipH="1">
            <a:off x="5286925" y="1127225"/>
            <a:ext cx="776100" cy="35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8" name="Google Shape;618;p71"/>
          <p:cNvCxnSpPr>
            <a:stCxn id="614" idx="1"/>
          </p:cNvCxnSpPr>
          <p:nvPr/>
        </p:nvCxnSpPr>
        <p:spPr>
          <a:xfrm flipH="1">
            <a:off x="4892650" y="2848800"/>
            <a:ext cx="1230300" cy="90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9" name="Google Shape;619;p71"/>
          <p:cNvCxnSpPr>
            <a:stCxn id="613" idx="3"/>
          </p:cNvCxnSpPr>
          <p:nvPr/>
        </p:nvCxnSpPr>
        <p:spPr>
          <a:xfrm>
            <a:off x="3086025" y="1979975"/>
            <a:ext cx="1192800" cy="204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0" name="Google Shape;620;p71"/>
          <p:cNvCxnSpPr>
            <a:stCxn id="615" idx="3"/>
          </p:cNvCxnSpPr>
          <p:nvPr/>
        </p:nvCxnSpPr>
        <p:spPr>
          <a:xfrm rot="10800000" flipH="1">
            <a:off x="3503825" y="3659250"/>
            <a:ext cx="887700" cy="9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1" name="Google Shape;621;p71"/>
          <p:cNvCxnSpPr>
            <a:stCxn id="616" idx="1"/>
          </p:cNvCxnSpPr>
          <p:nvPr/>
        </p:nvCxnSpPr>
        <p:spPr>
          <a:xfrm flipH="1">
            <a:off x="5224125" y="4356175"/>
            <a:ext cx="856500" cy="262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22" name="Google Shape;622;p71"/>
          <p:cNvSpPr txBox="1"/>
          <p:nvPr/>
        </p:nvSpPr>
        <p:spPr>
          <a:xfrm>
            <a:off x="757925" y="821200"/>
            <a:ext cx="2600100" cy="4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Dilution Refrigerator</a:t>
            </a:r>
            <a:endParaRPr sz="18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623" name="Google Shape;623;p71"/>
          <p:cNvCxnSpPr/>
          <p:nvPr/>
        </p:nvCxnSpPr>
        <p:spPr>
          <a:xfrm>
            <a:off x="7605600" y="1789000"/>
            <a:ext cx="575100" cy="57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4" name="Google Shape;624;p71"/>
          <p:cNvCxnSpPr/>
          <p:nvPr/>
        </p:nvCxnSpPr>
        <p:spPr>
          <a:xfrm rot="5400000">
            <a:off x="4587350" y="2108622"/>
            <a:ext cx="639900" cy="161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5" name="Google Shape;625;p71"/>
          <p:cNvCxnSpPr/>
          <p:nvPr/>
        </p:nvCxnSpPr>
        <p:spPr>
          <a:xfrm rot="5400000">
            <a:off x="4449350" y="2869200"/>
            <a:ext cx="616500" cy="137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6" name="Google Shape;626;p71"/>
          <p:cNvCxnSpPr/>
          <p:nvPr/>
        </p:nvCxnSpPr>
        <p:spPr>
          <a:xfrm rot="5400000">
            <a:off x="4529800" y="3475500"/>
            <a:ext cx="367200" cy="121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7" name="Google Shape;627;p71"/>
          <p:cNvCxnSpPr/>
          <p:nvPr/>
        </p:nvCxnSpPr>
        <p:spPr>
          <a:xfrm rot="5400000" flipH="1">
            <a:off x="4426150" y="2167150"/>
            <a:ext cx="577200" cy="51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72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Noise:</a:t>
            </a:r>
            <a:r>
              <a:rPr lang="en"/>
              <a:t> Decoherence</a:t>
            </a:r>
            <a:endParaRPr/>
          </a:p>
        </p:txBody>
      </p:sp>
      <p:sp>
        <p:nvSpPr>
          <p:cNvPr id="633" name="Google Shape;633;p72"/>
          <p:cNvSpPr txBox="1">
            <a:spLocks noGrp="1"/>
          </p:cNvSpPr>
          <p:nvPr>
            <p:ph type="body" idx="1"/>
          </p:nvPr>
        </p:nvSpPr>
        <p:spPr>
          <a:xfrm>
            <a:off x="338700" y="980350"/>
            <a:ext cx="8805300" cy="3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-"/>
            </a:pPr>
            <a:r>
              <a:rPr lang="en" sz="1800" b="1"/>
              <a:t>Decoherence</a:t>
            </a:r>
            <a:r>
              <a:rPr lang="en" sz="1800"/>
              <a:t> - When a qubit’s superposition breaks</a:t>
            </a:r>
            <a:endParaRPr sz="1800"/>
          </a:p>
          <a:p>
            <a:pPr marL="5029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=&gt; Loses quantum information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Why does this happen?</a:t>
            </a:r>
            <a:endParaRPr sz="1800"/>
          </a:p>
          <a:p>
            <a:pPr marL="457200" lvl="0" indent="-3238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Quantum states are quite delicate and can easily destabilize</a:t>
            </a:r>
            <a:endParaRPr sz="1500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Any noise will lead to interrupting a qubit’s superposition and its entangled counterparts, breaking the entire system</a:t>
            </a:r>
            <a:endParaRPr sz="1500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Decoherence could mean a bit flip, phase flip, or some piece of corrupted info</a:t>
            </a:r>
            <a:endParaRPr sz="1500"/>
          </a:p>
          <a:p>
            <a:pPr marL="45720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" sz="1500"/>
              <a:t>One of the major roadblocks when scaling up in terms of qubits</a:t>
            </a:r>
            <a:endParaRPr sz="1500"/>
          </a:p>
        </p:txBody>
      </p:sp>
      <p:pic>
        <p:nvPicPr>
          <p:cNvPr id="634" name="Google Shape;63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6408" y="1552036"/>
            <a:ext cx="3370399" cy="1837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73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Noise:</a:t>
            </a:r>
            <a:r>
              <a:rPr lang="en"/>
              <a:t> Sources</a:t>
            </a:r>
            <a:endParaRPr/>
          </a:p>
        </p:txBody>
      </p:sp>
      <p:sp>
        <p:nvSpPr>
          <p:cNvPr id="640" name="Google Shape;640;p73"/>
          <p:cNvSpPr txBox="1">
            <a:spLocks noGrp="1"/>
          </p:cNvSpPr>
          <p:nvPr>
            <p:ph type="body" idx="1"/>
          </p:nvPr>
        </p:nvSpPr>
        <p:spPr>
          <a:xfrm>
            <a:off x="338700" y="1595800"/>
            <a:ext cx="4365000" cy="13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Heat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Vibrations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Electromagnetic interference</a:t>
            </a:r>
            <a:endParaRPr sz="1800"/>
          </a:p>
        </p:txBody>
      </p:sp>
      <p:sp>
        <p:nvSpPr>
          <p:cNvPr id="641" name="Google Shape;641;p73"/>
          <p:cNvSpPr txBox="1">
            <a:spLocks noGrp="1"/>
          </p:cNvSpPr>
          <p:nvPr>
            <p:ph type="body" idx="1"/>
          </p:nvPr>
        </p:nvSpPr>
        <p:spPr>
          <a:xfrm>
            <a:off x="338700" y="965049"/>
            <a:ext cx="8805300" cy="7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What makes decoherence such an obstacle?</a:t>
            </a:r>
            <a:endParaRPr sz="1800"/>
          </a:p>
        </p:txBody>
      </p:sp>
      <p:sp>
        <p:nvSpPr>
          <p:cNvPr id="642" name="Google Shape;642;p73"/>
          <p:cNvSpPr txBox="1">
            <a:spLocks noGrp="1"/>
          </p:cNvSpPr>
          <p:nvPr>
            <p:ph type="body" idx="1"/>
          </p:nvPr>
        </p:nvSpPr>
        <p:spPr>
          <a:xfrm>
            <a:off x="4703700" y="1595800"/>
            <a:ext cx="4500600" cy="13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Material Defects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Background radiation</a:t>
            </a: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Cosmic rays</a:t>
            </a:r>
            <a:endParaRPr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74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Noise:</a:t>
            </a:r>
            <a:r>
              <a:rPr lang="en"/>
              <a:t> Error Correction</a:t>
            </a:r>
            <a:endParaRPr/>
          </a:p>
        </p:txBody>
      </p:sp>
      <p:sp>
        <p:nvSpPr>
          <p:cNvPr id="648" name="Google Shape;648;p74"/>
          <p:cNvSpPr txBox="1">
            <a:spLocks noGrp="1"/>
          </p:cNvSpPr>
          <p:nvPr>
            <p:ph type="body" idx="1"/>
          </p:nvPr>
        </p:nvSpPr>
        <p:spPr>
          <a:xfrm>
            <a:off x="338711" y="980347"/>
            <a:ext cx="8805300" cy="37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238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500"/>
              <a:buChar char="•"/>
            </a:pPr>
            <a:r>
              <a:rPr lang="en" sz="1500" b="1"/>
              <a:t>Error Correction</a:t>
            </a:r>
            <a:r>
              <a:rPr lang="en" sz="1500"/>
              <a:t> = Techniques used to protect against noise and identify errors</a:t>
            </a:r>
            <a:endParaRPr sz="1500"/>
          </a:p>
          <a:p>
            <a:pPr marL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800"/>
              <a:t>Proposed Solutions:</a:t>
            </a:r>
            <a:endParaRPr sz="1800"/>
          </a:p>
          <a:p>
            <a:pPr marL="914400" lvl="0" indent="-3238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500"/>
              <a:buAutoNum type="arabicParenBoth"/>
            </a:pPr>
            <a:r>
              <a:rPr lang="en" sz="1500"/>
              <a:t>A quantum computer with many physical qubits for every 1 reliable logical qubit</a:t>
            </a:r>
            <a:endParaRPr sz="1500"/>
          </a:p>
          <a:p>
            <a:pPr marL="91440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 b="1"/>
              <a:t>Pros:</a:t>
            </a:r>
            <a:r>
              <a:rPr lang="en" sz="1500"/>
              <a:t> One extremely reliable computer (in theory)</a:t>
            </a:r>
            <a:endParaRPr sz="1500"/>
          </a:p>
          <a:p>
            <a:pPr marL="9144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Cons:</a:t>
            </a:r>
            <a:r>
              <a:rPr lang="en" sz="1500"/>
              <a:t> Would take 100s of qubits just to handle error correction</a:t>
            </a:r>
            <a:endParaRPr sz="1500"/>
          </a:p>
          <a:p>
            <a:pPr marL="914400" lvl="0" indent="-3238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500"/>
              <a:buAutoNum type="arabicParenBoth"/>
            </a:pPr>
            <a:r>
              <a:rPr lang="en" sz="1500"/>
              <a:t>Build noisy intermediate-scale quantum (NISQ) computers</a:t>
            </a:r>
            <a:endParaRPr sz="1500"/>
          </a:p>
          <a:p>
            <a:pPr marL="91440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 b="1"/>
              <a:t>Pros:</a:t>
            </a:r>
            <a:r>
              <a:rPr lang="en" sz="1500"/>
              <a:t> New, more reliable algorithms</a:t>
            </a:r>
            <a:endParaRPr sz="15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Cons:</a:t>
            </a:r>
            <a:r>
              <a:rPr lang="en" sz="1500"/>
              <a:t> Not generalizable or scalable</a:t>
            </a:r>
            <a:endParaRPr sz="1500"/>
          </a:p>
          <a:p>
            <a:pPr marL="914400" lvl="0" indent="-3238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500"/>
              <a:buAutoNum type="arabicParenBoth"/>
            </a:pPr>
            <a:r>
              <a:rPr lang="en" sz="1500"/>
              <a:t>Find a new physical representation of qubits</a:t>
            </a:r>
            <a:endParaRPr sz="1500"/>
          </a:p>
          <a:p>
            <a:pPr marL="914400" lvl="0" indent="0" algn="l" rtl="0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 b="1"/>
              <a:t>Pros:</a:t>
            </a:r>
            <a:r>
              <a:rPr lang="en" sz="1500"/>
              <a:t> Quantum states may become more stable</a:t>
            </a:r>
            <a:endParaRPr sz="15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Cons:</a:t>
            </a:r>
            <a:r>
              <a:rPr lang="en" sz="1500"/>
              <a:t> Some of these particles may be purely theoretical or years off</a:t>
            </a:r>
            <a:endParaRPr sz="15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75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Classical vs. Quantum Computers</a:t>
            </a:r>
            <a:endParaRPr/>
          </a:p>
        </p:txBody>
      </p:sp>
      <p:graphicFrame>
        <p:nvGraphicFramePr>
          <p:cNvPr id="654" name="Google Shape;654;p75"/>
          <p:cNvGraphicFramePr/>
          <p:nvPr/>
        </p:nvGraphicFramePr>
        <p:xfrm>
          <a:off x="707275" y="702451"/>
          <a:ext cx="8187550" cy="404756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{0ACE863F-BA72-41DA-B610-25A16192D563}</a:tableStyleId>
              </a:tblPr>
              <a:tblGrid>
                <a:gridCol w="153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b="1">
                          <a:solidFill>
                            <a:srgbClr val="111827"/>
                          </a:solidFill>
                        </a:rPr>
                        <a:t>Category</a:t>
                      </a:r>
                      <a:endParaRPr sz="1350" b="1">
                        <a:solidFill>
                          <a:srgbClr val="111827"/>
                        </a:solidFill>
                      </a:endParaRPr>
                    </a:p>
                  </a:txBody>
                  <a:tcPr marL="171450" marR="171450" marT="152400" marB="152400">
                    <a:lnB w="605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b="1">
                          <a:solidFill>
                            <a:srgbClr val="111827"/>
                          </a:solidFill>
                        </a:rPr>
                        <a:t>Classical Computers</a:t>
                      </a:r>
                      <a:endParaRPr sz="1350" b="1">
                        <a:solidFill>
                          <a:srgbClr val="111827"/>
                        </a:solidFill>
                      </a:endParaRPr>
                    </a:p>
                  </a:txBody>
                  <a:tcPr marL="171450" marR="171450" marT="152400" marB="152400">
                    <a:lnB w="605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 b="1">
                          <a:solidFill>
                            <a:srgbClr val="111827"/>
                          </a:solidFill>
                        </a:rPr>
                        <a:t>Quantum Computers</a:t>
                      </a:r>
                      <a:endParaRPr sz="1350" b="1">
                        <a:solidFill>
                          <a:srgbClr val="111827"/>
                        </a:solidFill>
                      </a:endParaRPr>
                    </a:p>
                  </a:txBody>
                  <a:tcPr marL="171450" marR="171450" marT="152400" marB="152400">
                    <a:lnB w="605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7415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Basic Unit</a:t>
                      </a:r>
                      <a:endParaRPr sz="1200">
                        <a:solidFill>
                          <a:srgbClr val="37415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0575" marR="100575" marT="91425" marB="91425">
                    <a:lnT w="605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37415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Deterministic</a:t>
                      </a:r>
                      <a:r>
                        <a:rPr lang="en" sz="1200">
                          <a:solidFill>
                            <a:srgbClr val="37415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Bits (0 or 1)</a:t>
                      </a:r>
                      <a:endParaRPr sz="1200">
                        <a:solidFill>
                          <a:srgbClr val="37415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0575" marR="100575" marT="91425" marB="91425">
                    <a:lnT w="605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37415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Probabilistic</a:t>
                      </a:r>
                      <a:r>
                        <a:rPr lang="en" sz="1200">
                          <a:solidFill>
                            <a:srgbClr val="37415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Qubits (|0&gt; and |1&gt;)</a:t>
                      </a:r>
                      <a:endParaRPr sz="1200">
                        <a:solidFill>
                          <a:srgbClr val="37415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0575" marR="100575" marT="91425" marB="91425">
                    <a:lnT w="6050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7415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Core Hardware</a:t>
                      </a:r>
                      <a:endParaRPr sz="1200">
                        <a:solidFill>
                          <a:srgbClr val="37415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0575" marR="100575" marT="91425" marB="91425">
                    <a:lnT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7415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Silicon transistors and CPUs</a:t>
                      </a:r>
                      <a:endParaRPr sz="1200">
                        <a:solidFill>
                          <a:srgbClr val="37415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0575" marR="100575" marT="91425" marB="91425">
                    <a:lnT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7415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Qubits via superconducting circuits, trapped-ion, or neutral-atom systems</a:t>
                      </a:r>
                      <a:endParaRPr sz="1200">
                        <a:solidFill>
                          <a:srgbClr val="37415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0575" marR="100575" marT="91425" marB="91425">
                    <a:lnT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7415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Error Rates</a:t>
                      </a:r>
                      <a:endParaRPr sz="1200">
                        <a:solidFill>
                          <a:srgbClr val="37415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0575" marR="100575" marT="91425" marB="91425">
                    <a:lnT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7415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Very low and highly stable</a:t>
                      </a:r>
                      <a:endParaRPr sz="1200">
                        <a:solidFill>
                          <a:srgbClr val="37415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0575" marR="100575" marT="91425" marB="91425">
                    <a:lnT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7415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Currently high due to noise and decoherence</a:t>
                      </a:r>
                      <a:endParaRPr sz="1200">
                        <a:solidFill>
                          <a:srgbClr val="37415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0575" marR="100575" marT="91425" marB="91425">
                    <a:lnT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7415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Operating Temp</a:t>
                      </a:r>
                      <a:endParaRPr sz="1200">
                        <a:solidFill>
                          <a:srgbClr val="37415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0575" marR="100575" marT="91425" marB="91425">
                    <a:lnT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7415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Near room temperature</a:t>
                      </a:r>
                      <a:endParaRPr sz="1200">
                        <a:solidFill>
                          <a:srgbClr val="37415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0575" marR="100575" marT="91425" marB="91425">
                    <a:lnT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7415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Typically near absolute zero (0 K)</a:t>
                      </a:r>
                      <a:endParaRPr sz="1200">
                        <a:solidFill>
                          <a:srgbClr val="37415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0575" marR="100575" marT="91425" marB="91425">
                    <a:lnT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7415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Cost</a:t>
                      </a:r>
                      <a:endParaRPr sz="1200">
                        <a:solidFill>
                          <a:srgbClr val="37415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0575" marR="100575" marT="91425" marB="91425">
                    <a:lnT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7415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Affordable for consumers and enterprises</a:t>
                      </a:r>
                      <a:endParaRPr sz="1200">
                        <a:solidFill>
                          <a:srgbClr val="37415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0575" marR="100575" marT="91425" marB="91425">
                    <a:lnT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7415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Extremely expensive specialized infrastructure</a:t>
                      </a:r>
                      <a:endParaRPr sz="1200">
                        <a:solidFill>
                          <a:srgbClr val="37415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0575" marR="100575" marT="91425" marB="91425">
                    <a:lnT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7415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Best Use Cases</a:t>
                      </a:r>
                      <a:endParaRPr sz="1200">
                        <a:solidFill>
                          <a:srgbClr val="37415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0575" marR="100575" marT="91425" marB="91425">
                    <a:lnT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7415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Web applications, gaming, databases, &amp; AI training</a:t>
                      </a:r>
                      <a:endParaRPr sz="1200">
                        <a:solidFill>
                          <a:srgbClr val="37415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0575" marR="100575" marT="91425" marB="91425">
                    <a:lnT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7415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Molecular simulation, optimization, cryptography, quantum machine learning, and materials science</a:t>
                      </a:r>
                      <a:endParaRPr sz="1200">
                        <a:solidFill>
                          <a:srgbClr val="37415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0575" marR="100575" marT="91425" marB="91425">
                    <a:lnT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7415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Current State</a:t>
                      </a:r>
                      <a:endParaRPr sz="1200">
                        <a:solidFill>
                          <a:srgbClr val="37415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0575" marR="100575" marT="91425" marB="91425">
                    <a:lnT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7415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Fully mature mainstream technology</a:t>
                      </a:r>
                      <a:endParaRPr sz="1200">
                        <a:solidFill>
                          <a:srgbClr val="37415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0575" marR="100575" marT="91425" marB="91425">
                    <a:lnT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7415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Early-stage NISQ-era technology</a:t>
                      </a:r>
                      <a:endParaRPr sz="1200">
                        <a:solidFill>
                          <a:srgbClr val="37415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0575" marR="100575" marT="91425" marB="91425">
                    <a:lnT w="6050" cap="flat" cmpd="sng">
                      <a:solidFill>
                        <a:srgbClr val="CFCFC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76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Quantum Computing Timeline</a:t>
            </a:r>
            <a:endParaRPr/>
          </a:p>
        </p:txBody>
      </p:sp>
      <p:pic>
        <p:nvPicPr>
          <p:cNvPr id="660" name="Google Shape;660;p76"/>
          <p:cNvPicPr preferRelativeResize="0"/>
          <p:nvPr/>
        </p:nvPicPr>
        <p:blipFill rotWithShape="1">
          <a:blip r:embed="rId3">
            <a:alphaModFix/>
          </a:blip>
          <a:srcRect t="23171"/>
          <a:stretch/>
        </p:blipFill>
        <p:spPr>
          <a:xfrm>
            <a:off x="762000" y="1248675"/>
            <a:ext cx="7620000" cy="27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77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Quantum Computing Timeline</a:t>
            </a:r>
            <a:endParaRPr/>
          </a:p>
        </p:txBody>
      </p:sp>
      <p:pic>
        <p:nvPicPr>
          <p:cNvPr id="666" name="Google Shape;666;p77"/>
          <p:cNvPicPr preferRelativeResize="0"/>
          <p:nvPr/>
        </p:nvPicPr>
        <p:blipFill rotWithShape="1">
          <a:blip r:embed="rId3">
            <a:alphaModFix/>
          </a:blip>
          <a:srcRect l="22390" b="39741"/>
          <a:stretch/>
        </p:blipFill>
        <p:spPr>
          <a:xfrm>
            <a:off x="384650" y="1297100"/>
            <a:ext cx="6977603" cy="3047351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77"/>
          <p:cNvSpPr txBox="1"/>
          <p:nvPr/>
        </p:nvSpPr>
        <p:spPr>
          <a:xfrm>
            <a:off x="2447731" y="850913"/>
            <a:ext cx="33303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IBM Roadmap</a:t>
            </a:r>
            <a:endParaRPr sz="2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8" name="Google Shape;668;p77"/>
          <p:cNvSpPr txBox="1"/>
          <p:nvPr/>
        </p:nvSpPr>
        <p:spPr>
          <a:xfrm>
            <a:off x="7437625" y="1356150"/>
            <a:ext cx="15144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We’ve barely scratched the surface yet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78"/>
          <p:cNvSpPr txBox="1">
            <a:spLocks noGrp="1"/>
          </p:cNvSpPr>
          <p:nvPr>
            <p:ph type="title"/>
          </p:nvPr>
        </p:nvSpPr>
        <p:spPr>
          <a:xfrm>
            <a:off x="322326" y="205740"/>
            <a:ext cx="85725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Resources</a:t>
            </a:r>
            <a:endParaRPr/>
          </a:p>
        </p:txBody>
      </p:sp>
      <p:sp>
        <p:nvSpPr>
          <p:cNvPr id="674" name="Google Shape;674;p78"/>
          <p:cNvSpPr txBox="1">
            <a:spLocks noGrp="1"/>
          </p:cNvSpPr>
          <p:nvPr>
            <p:ph type="body" idx="1"/>
          </p:nvPr>
        </p:nvSpPr>
        <p:spPr>
          <a:xfrm>
            <a:off x="338700" y="917536"/>
            <a:ext cx="8564700" cy="36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15900" lvl="0" indent="-2159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Char char="•"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Quantum Computing vs. Classical Computing</a:t>
            </a:r>
            <a:endParaRPr sz="1800"/>
          </a:p>
          <a:p>
            <a:pPr marL="215900" lvl="0" indent="-2159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Char char="•"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O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RNL Deploys IQM Pathfinder</a:t>
            </a:r>
            <a:endParaRPr sz="1800"/>
          </a:p>
          <a:p>
            <a:pPr marL="215900" lvl="0" indent="-2159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800"/>
              <a:buChar char="•"/>
            </a:pPr>
            <a:r>
              <a:rPr lang="en" sz="1800" u="sng">
                <a:solidFill>
                  <a:schemeClr val="hlink"/>
                </a:solidFill>
                <a:hlinkClick r:id="rId5"/>
              </a:rPr>
              <a:t>AWS: Noise in Quantum Computing</a:t>
            </a:r>
            <a:endParaRPr sz="1800"/>
          </a:p>
          <a:p>
            <a:pPr marL="215900" lvl="0" indent="-254000" algn="l" rtl="0">
              <a:spcBef>
                <a:spcPts val="1100"/>
              </a:spcBef>
              <a:spcAft>
                <a:spcPts val="0"/>
              </a:spcAft>
              <a:buSzPts val="1800"/>
              <a:buChar char="•"/>
            </a:pPr>
            <a:r>
              <a:rPr lang="en" sz="1800" u="sng">
                <a:solidFill>
                  <a:schemeClr val="hlink"/>
                </a:solidFill>
                <a:hlinkClick r:id="rId6"/>
              </a:rPr>
              <a:t>Quantum Gates + Circuits</a:t>
            </a:r>
            <a:endParaRPr sz="1800"/>
          </a:p>
          <a:p>
            <a:pPr marL="215900" lvl="0" indent="-254000" algn="l" rtl="0">
              <a:spcBef>
                <a:spcPts val="1100"/>
              </a:spcBef>
              <a:spcAft>
                <a:spcPts val="0"/>
              </a:spcAft>
              <a:buSzPts val="1800"/>
              <a:buChar char="•"/>
            </a:pPr>
            <a:r>
              <a:rPr lang="en" sz="1800" u="sng">
                <a:solidFill>
                  <a:schemeClr val="hlink"/>
                </a:solidFill>
                <a:hlinkClick r:id="rId7"/>
              </a:rPr>
              <a:t>How Does a Quantum Computer Work?</a:t>
            </a:r>
            <a:r>
              <a:rPr lang="en" sz="1800"/>
              <a:t> </a:t>
            </a:r>
            <a:endParaRPr sz="1800">
              <a:solidFill>
                <a:srgbClr val="0000FF"/>
              </a:solidFill>
            </a:endParaRPr>
          </a:p>
          <a:p>
            <a:pPr marL="215900" lvl="0" indent="-254000" algn="l" rtl="0">
              <a:spcBef>
                <a:spcPts val="1100"/>
              </a:spcBef>
              <a:spcAft>
                <a:spcPts val="0"/>
              </a:spcAft>
              <a:buSzPts val="1800"/>
              <a:buChar char="•"/>
            </a:pPr>
            <a:r>
              <a:rPr lang="en" sz="1800" u="sng">
                <a:solidFill>
                  <a:schemeClr val="hlink"/>
                </a:solidFill>
                <a:hlinkClick r:id="rId8"/>
              </a:rPr>
              <a:t>CalTech’s Quantum Computer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RNL">
  <a:themeElements>
    <a:clrScheme name="ORNL theme colors 180717 final">
      <a:dk1>
        <a:srgbClr val="000000"/>
      </a:dk1>
      <a:lt1>
        <a:srgbClr val="FFFFFF"/>
      </a:lt1>
      <a:dk2>
        <a:srgbClr val="447E59"/>
      </a:dk2>
      <a:lt2>
        <a:srgbClr val="FFFFFF"/>
      </a:lt2>
      <a:accent1>
        <a:srgbClr val="3BA2AD"/>
      </a:accent1>
      <a:accent2>
        <a:srgbClr val="8FBB55"/>
      </a:accent2>
      <a:accent3>
        <a:srgbClr val="5785B7"/>
      </a:accent3>
      <a:accent4>
        <a:srgbClr val="E5A940"/>
      </a:accent4>
      <a:accent5>
        <a:srgbClr val="919785"/>
      </a:accent5>
      <a:accent6>
        <a:srgbClr val="CB4D3D"/>
      </a:accent6>
      <a:hlink>
        <a:srgbClr val="397D52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2305</Words>
  <Application>Microsoft Office PowerPoint</Application>
  <PresentationFormat>On-screen Show (16:9)</PresentationFormat>
  <Paragraphs>384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Century Gothic</vt:lpstr>
      <vt:lpstr>Cambria</vt:lpstr>
      <vt:lpstr>Roboto</vt:lpstr>
      <vt:lpstr>Courier New</vt:lpstr>
      <vt:lpstr>Arial</vt:lpstr>
      <vt:lpstr>Simple Light</vt:lpstr>
      <vt:lpstr>ORNL</vt:lpstr>
      <vt:lpstr>Intro to Qubits and Quantum Circuits</vt:lpstr>
      <vt:lpstr>IQM Material</vt:lpstr>
      <vt:lpstr>Classical Computing: What are Bits?</vt:lpstr>
      <vt:lpstr>Classical Computing: What are Bits?</vt:lpstr>
      <vt:lpstr>Classical Computing: Logic Gates</vt:lpstr>
      <vt:lpstr>Classical Computing: AND &amp; OR</vt:lpstr>
      <vt:lpstr>Classical Computing: XOR &amp; NOT</vt:lpstr>
      <vt:lpstr>Classical Computing: NAND</vt:lpstr>
      <vt:lpstr>Enter Quantum Computing</vt:lpstr>
      <vt:lpstr>Quantum Computing: Qubits</vt:lpstr>
      <vt:lpstr>Quantum Computing: Qubits</vt:lpstr>
      <vt:lpstr>Quantum Computing: Qubits</vt:lpstr>
      <vt:lpstr>Quantum Computing: Bloch Sphere</vt:lpstr>
      <vt:lpstr>Quantum Gates: What’s the Difference?</vt:lpstr>
      <vt:lpstr>Quantum Gates: The X &amp; Hadamard Gates</vt:lpstr>
      <vt:lpstr>Quantum Gates: The X &amp; Hadamard Gates</vt:lpstr>
      <vt:lpstr>Quantum Gates: The X &amp; Hadamard Gates</vt:lpstr>
      <vt:lpstr>Quantum Gates: Pauli Gates</vt:lpstr>
      <vt:lpstr>Quantum Gates: Phase Gates</vt:lpstr>
      <vt:lpstr>Quantum Circuits: CNOT</vt:lpstr>
      <vt:lpstr>Quantum Circuits: Entanglement</vt:lpstr>
      <vt:lpstr>Why Gates Matter</vt:lpstr>
      <vt:lpstr>Why Qubits Matter</vt:lpstr>
      <vt:lpstr>Applications</vt:lpstr>
      <vt:lpstr>PowerPoint Presentation</vt:lpstr>
      <vt:lpstr>Qubits in Physical 3D Space</vt:lpstr>
      <vt:lpstr>Qubits → Hardware</vt:lpstr>
      <vt:lpstr>Qubits: Theory Vs. Physical</vt:lpstr>
      <vt:lpstr>Qubits: Quantum Computers</vt:lpstr>
      <vt:lpstr>Qubits: Superconducting Circuits</vt:lpstr>
      <vt:lpstr>Qubits: Trapped Ions</vt:lpstr>
      <vt:lpstr>Qubits: Neutral Atoms</vt:lpstr>
      <vt:lpstr>Hardware: Quantum Computer Anatomy I</vt:lpstr>
      <vt:lpstr>Hardware: Quantum Computer Anatomy II</vt:lpstr>
      <vt:lpstr>Hardware: Quantum Computer Anatomy III</vt:lpstr>
      <vt:lpstr>Hardware: How Gates Physically Exist</vt:lpstr>
      <vt:lpstr>Hardware: Cooling Systems I</vt:lpstr>
      <vt:lpstr>Hardware: Cooling Systems II</vt:lpstr>
      <vt:lpstr>Noise: Decoherence</vt:lpstr>
      <vt:lpstr>Noise: Sources</vt:lpstr>
      <vt:lpstr>Noise: Error Correction</vt:lpstr>
      <vt:lpstr>Classical vs. Quantum Computers</vt:lpstr>
      <vt:lpstr>Quantum Computing Timeline</vt:lpstr>
      <vt:lpstr>Quantum Computing Timeline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Chance Loveday</cp:lastModifiedBy>
  <cp:revision>1</cp:revision>
  <dcterms:modified xsi:type="dcterms:W3CDTF">2026-07-19T04:42:46Z</dcterms:modified>
</cp:coreProperties>
</file>